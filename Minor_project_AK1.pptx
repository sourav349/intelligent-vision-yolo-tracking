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7" r:id="rId4"/>
    <p:sldId id="261" r:id="rId5"/>
    <p:sldId id="259" r:id="rId6"/>
    <p:sldId id="267" r:id="rId7"/>
    <p:sldId id="262" r:id="rId8"/>
    <p:sldId id="263" r:id="rId9"/>
    <p:sldId id="266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1241" autoAdjust="0"/>
  </p:normalViewPr>
  <p:slideViewPr>
    <p:cSldViewPr snapToGrid="0">
      <p:cViewPr varScale="1">
        <p:scale>
          <a:sx n="60" d="100"/>
          <a:sy n="60" d="100"/>
        </p:scale>
        <p:origin x="90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67CCE4-F146-4385-94D5-CA3A89AEAA7D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78AD9E-19CB-44BE-B5F4-C216D063D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9157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8AD9E-19CB-44BE-B5F4-C216D063D7A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7389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1B30A-7350-EE65-9094-0FCDBFCE4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B29F2B-FABB-1EFA-DE6A-3748965A6D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499F3C-3AE0-53CB-3FC2-10A178A89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CD418E-FCED-F7EF-6979-05C0FACF64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8AD9E-19CB-44BE-B5F4-C216D063D7AB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882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AD018-7637-3F9E-202E-5501E45FE6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56A62-A54B-37F6-39F9-39D3C3B1ED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9D553-2FE8-2FBD-014D-2578E6E7D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F69DF-0CF9-4FC9-9BDA-944E5C269C7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34D73-06CA-D09D-E69D-AB27A4264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57EC1-D8BC-2964-E14A-284E139DC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311D0-11AA-48F9-952F-52C01659B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824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4A051-B1BB-C516-78EE-F564B427C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DEF76-52C3-C3A1-0549-3F3F8F694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72640-E261-B1DE-A1C4-DE65DDE28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F69DF-0CF9-4FC9-9BDA-944E5C269C7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F24DE-515C-22E3-7F83-A2D4FFFBD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38050-EE98-638A-739A-40429B750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311D0-11AA-48F9-952F-52C01659B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049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463F1-336E-93E2-8C87-9CC702F96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94BC4-F878-34D4-7C33-B5003E939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540A0-96B7-0920-5714-27A27B551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F69DF-0CF9-4FC9-9BDA-944E5C269C7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584A3-557A-0985-41EE-7F90C4D57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53366-9430-98C1-25D5-38CEF7DB1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311D0-11AA-48F9-952F-52C01659B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567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0FFC2-2A8D-290E-92CE-6AFEA2F54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61D26-3448-37CD-9AFF-B6A7A33A00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86875-29C9-7FED-BFDA-4A2AE0150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E73893-E91A-AF7C-A7D1-68F87FBA7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F69DF-0CF9-4FC9-9BDA-944E5C269C7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649EF4-84DC-0CE9-5810-A8B1989F2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B16F8A-7A9F-864B-06FB-E48AEBBB1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311D0-11AA-48F9-952F-52C01659B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187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82F93-5712-BF7C-7AE7-03172A326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31CC31-96FC-9468-C055-0C22E9AB77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B30B35-7208-A9EE-B7F4-3A1670CDB8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CB2B9D-2C14-CC9C-002B-CAA50EF54A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1FCB94-43AF-F017-61EB-ED7801A99D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BC4897-0209-64D8-A58B-E85FCD603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F69DF-0CF9-4FC9-9BDA-944E5C269C7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81FE48-E9D4-FA90-DE94-DCAC9E779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0F8AE0-1384-07FC-FA8F-AF608B889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311D0-11AA-48F9-952F-52C01659B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9856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3F307-B42B-517B-DA8A-E0724C592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931C90-351E-4B29-841E-9F7CAFC71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F69DF-0CF9-4FC9-9BDA-944E5C269C7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9F596E-93C5-7336-D4A2-C5C411DB9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77C034-EF0D-45FA-93E7-1030AFA26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311D0-11AA-48F9-952F-52C01659B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6239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E6DF79-A15A-A604-335E-BB5A553AF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F69DF-0CF9-4FC9-9BDA-944E5C269C7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368E2D-39DC-2062-B2DA-0576BA151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7FAD4-F402-F4F0-AA34-24A6D1B30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311D0-11AA-48F9-952F-52C01659B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958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4ECCB-B70E-3AD3-089A-E503189CA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C0830-04E4-FF1C-3EA6-0D26FFACD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B55FBF-07D7-DB0A-8AD7-0B5AA9248C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8E5F31-9EC3-009D-2111-BA0705C10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F69DF-0CF9-4FC9-9BDA-944E5C269C7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48D559-3E17-7683-998C-9EA9821BA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71A30-D6A6-17BE-BD4E-E89476C96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311D0-11AA-48F9-952F-52C01659B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850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CCFD3-C5C4-276C-64B5-F6E680E66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3CE3A7-C0DE-6ED7-6541-8FB70DA05A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9BBA66-F33D-F183-6EAE-27A76A15E7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8159F-8BB0-DBFC-758D-14C063A49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F69DF-0CF9-4FC9-9BDA-944E5C269C7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EE19BF-2575-527C-455C-87F699F51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6EB37-3047-4C6C-9437-7DDA146EB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311D0-11AA-48F9-952F-52C01659B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957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32897-FE8D-81A8-40E8-ED5B079F0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72C69-D674-AB87-C116-EDEA19736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A9596-798C-C82A-2F27-39EC5F222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F69DF-0CF9-4FC9-9BDA-944E5C269C7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0404A-7886-3BCE-4387-483812724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0B56C-A81D-A885-0B17-9860F5C63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311D0-11AA-48F9-952F-52C01659B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888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B7D609-37CA-8F2D-A26F-4F9F58031E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26B4FD-D3BD-894F-51DE-CB3BE7787E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36C40-829F-4B98-484B-225501711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F69DF-0CF9-4FC9-9BDA-944E5C269C7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90C78-8EDB-698E-26C0-A5AC14AD4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4D0CF-989C-59DA-293B-B4E9532E1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311D0-11AA-48F9-952F-52C01659B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987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185746-EBE5-5ACD-4C80-8FD0ABDAD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2ECD99-7D88-3631-A332-B463FFF5E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EFB00-91FA-D7FB-7A1F-3A2093E648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6F69DF-0CF9-4FC9-9BDA-944E5C269C7C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90EF3-B4C8-F27A-403C-53571875F4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85CAD-7748-826C-FD29-99AA4C0F98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D311D0-11AA-48F9-952F-52C01659B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984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F36DB-8041-1584-2A0A-352429BA36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338" y="139251"/>
            <a:ext cx="11363324" cy="1457324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Jaypee University of Engineering &amp; Technology</a:t>
            </a:r>
            <a:b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Department of Computer Science &amp; Engineering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8724D2-D850-9F17-F090-E9B5FE0FE2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6698" y="2183816"/>
            <a:ext cx="3100279" cy="504765"/>
          </a:xfrm>
        </p:spPr>
        <p:txBody>
          <a:bodyPr>
            <a:noAutofit/>
          </a:bodyPr>
          <a:lstStyle/>
          <a:p>
            <a:r>
              <a:rPr lang="en-US" sz="25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Minor Project Part - 2</a:t>
            </a:r>
            <a:endParaRPr lang="en-IN" sz="2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7C5D04-9B90-652B-0B91-E101E5DAAD28}"/>
              </a:ext>
            </a:extLst>
          </p:cNvPr>
          <p:cNvSpPr txBox="1"/>
          <p:nvPr/>
        </p:nvSpPr>
        <p:spPr>
          <a:xfrm>
            <a:off x="1108301" y="3943297"/>
            <a:ext cx="92536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Time Object Detection Using YOLO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7D8429-9715-3E42-1D2D-B2E3A512956F}"/>
              </a:ext>
            </a:extLst>
          </p:cNvPr>
          <p:cNvSpPr txBox="1"/>
          <p:nvPr/>
        </p:nvSpPr>
        <p:spPr>
          <a:xfrm>
            <a:off x="2196604" y="4809182"/>
            <a:ext cx="6684362" cy="744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 – Dr. Animesh Kumar Dubey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981C41-FCA6-F6F0-E0E9-1E582AA1EFDA}"/>
              </a:ext>
            </a:extLst>
          </p:cNvPr>
          <p:cNvSpPr txBox="1"/>
          <p:nvPr/>
        </p:nvSpPr>
        <p:spPr>
          <a:xfrm>
            <a:off x="3962906" y="3077412"/>
            <a:ext cx="338259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Number – AKD1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A39829-C9E1-A8AB-6E05-82FC6CBDF8E3}"/>
              </a:ext>
            </a:extLst>
          </p:cNvPr>
          <p:cNvSpPr/>
          <p:nvPr/>
        </p:nvSpPr>
        <p:spPr>
          <a:xfrm>
            <a:off x="0" y="6369977"/>
            <a:ext cx="12192000" cy="48802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414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9201E5-5DE7-2C51-A247-1A08682D9D09}"/>
              </a:ext>
            </a:extLst>
          </p:cNvPr>
          <p:cNvSpPr txBox="1"/>
          <p:nvPr/>
        </p:nvSpPr>
        <p:spPr>
          <a:xfrm>
            <a:off x="247650" y="2385952"/>
            <a:ext cx="11830050" cy="3845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Object Detection :-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multiple objects in images and live video streams accurately.</a:t>
            </a:r>
          </a:p>
          <a:p>
            <a:pPr algn="just">
              <a:lnSpc>
                <a:spcPct val="150000"/>
              </a:lnSpc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Object Counting :-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the total number of detected objects in each frame.</a:t>
            </a:r>
          </a:p>
          <a:p>
            <a:pPr algn="just">
              <a:lnSpc>
                <a:spcPct val="150000"/>
              </a:lnSpc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Object Localization :-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exact position of objects using bounding boxes and coordinates.</a:t>
            </a:r>
          </a:p>
          <a:p>
            <a:pPr algn="just">
              <a:lnSpc>
                <a:spcPct val="150000"/>
              </a:lnSpc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Motion Analysis :-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object movement across consecutive frames in a video.</a:t>
            </a:r>
          </a:p>
          <a:p>
            <a:pPr algn="just">
              <a:lnSpc>
                <a:spcPct val="150000"/>
              </a:lnSpc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Object Identity Tracking :-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individual objects over time and assign unique IDs to maintain identity.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D1571C-FBD2-97EF-9783-DBA2D4768EC4}"/>
              </a:ext>
            </a:extLst>
          </p:cNvPr>
          <p:cNvSpPr txBox="1"/>
          <p:nvPr/>
        </p:nvSpPr>
        <p:spPr>
          <a:xfrm>
            <a:off x="4413966" y="119941"/>
            <a:ext cx="259917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0" cap="none" spc="0" dirty="0">
                <a:ln w="0"/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622D0C-0331-6E36-BBE2-46F2231357CE}"/>
              </a:ext>
            </a:extLst>
          </p:cNvPr>
          <p:cNvSpPr txBox="1"/>
          <p:nvPr/>
        </p:nvSpPr>
        <p:spPr>
          <a:xfrm>
            <a:off x="247650" y="1111240"/>
            <a:ext cx="11382375" cy="1652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of this project is to develop an intelligent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object  detection using YOLO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capable of performing the following tasks: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4370D9-F99A-5956-7FF5-89DE9D92313A}"/>
              </a:ext>
            </a:extLst>
          </p:cNvPr>
          <p:cNvSpPr/>
          <p:nvPr/>
        </p:nvSpPr>
        <p:spPr>
          <a:xfrm>
            <a:off x="0" y="6369977"/>
            <a:ext cx="12192000" cy="48802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9379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83E622-850C-BA02-55DE-347915A4055D}"/>
              </a:ext>
            </a:extLst>
          </p:cNvPr>
          <p:cNvSpPr txBox="1"/>
          <p:nvPr/>
        </p:nvSpPr>
        <p:spPr>
          <a:xfrm>
            <a:off x="447674" y="965300"/>
            <a:ext cx="116681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Object Detection is a computer vision technique that identifies, classifies, and locates objects in images or video streams instantly as the data is captured. It not only detects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object is, but also determines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by drawing bounding boxes around it — all within milliseconds.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3A3585-C6CA-605D-7B8D-79E1E90DA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4" y="2519097"/>
            <a:ext cx="5295899" cy="38508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AEEDF6-92A5-BB50-2755-AAF6CF40AC5F}"/>
              </a:ext>
            </a:extLst>
          </p:cNvPr>
          <p:cNvSpPr txBox="1"/>
          <p:nvPr/>
        </p:nvSpPr>
        <p:spPr>
          <a:xfrm>
            <a:off x="6000750" y="2831262"/>
            <a:ext cx="281463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087E0A-CAF4-DDC7-991C-9ADEE47761AE}"/>
              </a:ext>
            </a:extLst>
          </p:cNvPr>
          <p:cNvSpPr txBox="1"/>
          <p:nvPr/>
        </p:nvSpPr>
        <p:spPr>
          <a:xfrm>
            <a:off x="6000750" y="3429000"/>
            <a:ext cx="6019799" cy="2345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multiple objects simultaneously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Works on live video or webcam feed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bounding box + class label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Operates with very low delay (high FPS)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instant decision-making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CC8064-872B-234F-6018-B311BE936B21}"/>
              </a:ext>
            </a:extLst>
          </p:cNvPr>
          <p:cNvSpPr/>
          <p:nvPr/>
        </p:nvSpPr>
        <p:spPr>
          <a:xfrm>
            <a:off x="0" y="6369977"/>
            <a:ext cx="12192000" cy="48802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9D7437-DA8F-2F9C-FECD-FE071761E853}"/>
              </a:ext>
            </a:extLst>
          </p:cNvPr>
          <p:cNvSpPr txBox="1"/>
          <p:nvPr/>
        </p:nvSpPr>
        <p:spPr>
          <a:xfrm>
            <a:off x="1889892" y="-82883"/>
            <a:ext cx="9608426" cy="90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0" cap="none" spc="0" dirty="0">
                <a:ln w="0"/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What is Real-Time Object Detection?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832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29B79-E8B4-0F66-2473-36CC496A1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789D6A-A6E3-72EB-2383-3FA0DD1CA560}"/>
              </a:ext>
            </a:extLst>
          </p:cNvPr>
          <p:cNvSpPr txBox="1"/>
          <p:nvPr/>
        </p:nvSpPr>
        <p:spPr>
          <a:xfrm>
            <a:off x="447674" y="1085551"/>
            <a:ext cx="11668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detection has evolved significantly over time to improve accuracy and speed.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C7748C-160F-D85F-F279-23143A35F90C}"/>
              </a:ext>
            </a:extLst>
          </p:cNvPr>
          <p:cNvSpPr txBox="1"/>
          <p:nvPr/>
        </p:nvSpPr>
        <p:spPr>
          <a:xfrm>
            <a:off x="1653777" y="-143786"/>
            <a:ext cx="9408320" cy="905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0" cap="none" spc="0" dirty="0">
                <a:ln w="0"/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Evolution of Object Detection Techniques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217D6E-6007-6531-6844-A2F51AE9E5D0}"/>
              </a:ext>
            </a:extLst>
          </p:cNvPr>
          <p:cNvSpPr txBox="1"/>
          <p:nvPr/>
        </p:nvSpPr>
        <p:spPr>
          <a:xfrm>
            <a:off x="447674" y="1524666"/>
            <a:ext cx="4600576" cy="2460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Sliding Window Approach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Scans the image using fixed-size windows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Classifies each region separately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slow and computationally expensive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for large images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B36EF0-BC07-AFE5-87CB-62CD170BEF58}"/>
              </a:ext>
            </a:extLst>
          </p:cNvPr>
          <p:cNvSpPr txBox="1"/>
          <p:nvPr/>
        </p:nvSpPr>
        <p:spPr>
          <a:xfrm>
            <a:off x="5873492" y="1506282"/>
            <a:ext cx="6485174" cy="2922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R-CNN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Introduced region proposals instead of scanning image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CNN for feature extraction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accuracy significantly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Still slow due to multi-stage pipeline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526B37-50A4-F0AE-A764-A7D5BED5D143}"/>
              </a:ext>
            </a:extLst>
          </p:cNvPr>
          <p:cNvSpPr txBox="1"/>
          <p:nvPr/>
        </p:nvSpPr>
        <p:spPr>
          <a:xfrm>
            <a:off x="447674" y="4090664"/>
            <a:ext cx="4153701" cy="19990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Fast R-CNN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repeated CNN computations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ROI Pooling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than R-CNN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DD48D4-6103-6413-02EE-42F117D7824D}"/>
              </a:ext>
            </a:extLst>
          </p:cNvPr>
          <p:cNvSpPr txBox="1"/>
          <p:nvPr/>
        </p:nvSpPr>
        <p:spPr>
          <a:xfrm>
            <a:off x="5978267" y="3938130"/>
            <a:ext cx="3807453" cy="29224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YOLO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Single-stage detector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entire image in one pass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performance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and optimized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2C04CD-070E-617A-3C71-02A5A364AF2F}"/>
              </a:ext>
            </a:extLst>
          </p:cNvPr>
          <p:cNvSpPr/>
          <p:nvPr/>
        </p:nvSpPr>
        <p:spPr>
          <a:xfrm>
            <a:off x="0" y="6369977"/>
            <a:ext cx="12192000" cy="48802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952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05F232-42FD-674F-5E0F-F304B23BFFB8}"/>
              </a:ext>
            </a:extLst>
          </p:cNvPr>
          <p:cNvSpPr txBox="1"/>
          <p:nvPr/>
        </p:nvSpPr>
        <p:spPr>
          <a:xfrm>
            <a:off x="4116971" y="167968"/>
            <a:ext cx="365536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n w="0"/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4000" b="0" cap="none" spc="0" dirty="0">
                <a:ln w="0"/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hat  is YOLO?</a:t>
            </a:r>
            <a:endParaRPr lang="en-US" sz="40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99F863-E891-6946-E25C-3799F66AE1B4}"/>
              </a:ext>
            </a:extLst>
          </p:cNvPr>
          <p:cNvSpPr txBox="1"/>
          <p:nvPr/>
        </p:nvSpPr>
        <p:spPr>
          <a:xfrm>
            <a:off x="410817" y="915503"/>
            <a:ext cx="11370366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 (You Only Look Once)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deep learning-based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object detection algorithm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detects and classifies objects in a single forward pass of a neural network. So let’s see how it does it ?</a:t>
            </a:r>
          </a:p>
          <a:p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CAFA66-F1EA-BE07-11F8-9DBEF4F5D31E}"/>
              </a:ext>
            </a:extLst>
          </p:cNvPr>
          <p:cNvSpPr/>
          <p:nvPr/>
        </p:nvSpPr>
        <p:spPr>
          <a:xfrm>
            <a:off x="0" y="6369977"/>
            <a:ext cx="12192000" cy="48802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36862B7-A4E1-CC8C-1A48-B9D9F39C2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4820" y="2780926"/>
            <a:ext cx="2907190" cy="2740242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48B7F031-B73D-FC48-0D9F-AC844253C197}"/>
              </a:ext>
            </a:extLst>
          </p:cNvPr>
          <p:cNvSpPr txBox="1"/>
          <p:nvPr/>
        </p:nvSpPr>
        <p:spPr>
          <a:xfrm>
            <a:off x="8984820" y="2228595"/>
            <a:ext cx="29917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this a dog or a person ?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12324B1-2598-A10B-D110-C1819A55E96A}"/>
              </a:ext>
            </a:extLst>
          </p:cNvPr>
          <p:cNvSpPr txBox="1"/>
          <p:nvPr/>
        </p:nvSpPr>
        <p:spPr>
          <a:xfrm>
            <a:off x="8984820" y="5622407"/>
            <a:ext cx="1842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 Output 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135BF14-76CB-38C3-C281-3CEDFDE7CFCA}"/>
              </a:ext>
            </a:extLst>
          </p:cNvPr>
          <p:cNvSpPr txBox="1"/>
          <p:nvPr/>
        </p:nvSpPr>
        <p:spPr>
          <a:xfrm>
            <a:off x="10772775" y="5603975"/>
            <a:ext cx="1419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Dog=1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Person=0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C0BD43B-31F5-24D8-576A-5EA4D20EDED6}"/>
              </a:ext>
            </a:extLst>
          </p:cNvPr>
          <p:cNvSpPr txBox="1"/>
          <p:nvPr/>
        </p:nvSpPr>
        <p:spPr>
          <a:xfrm>
            <a:off x="409999" y="1948242"/>
            <a:ext cx="6101254" cy="1075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it work ?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Image Classification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38C08C-20DC-ECDB-DD47-F141D6290995}"/>
              </a:ext>
            </a:extLst>
          </p:cNvPr>
          <p:cNvSpPr txBox="1"/>
          <p:nvPr/>
        </p:nvSpPr>
        <p:spPr>
          <a:xfrm>
            <a:off x="409999" y="3015510"/>
            <a:ext cx="8702470" cy="326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classification is performed using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 image is passed through multiple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layers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extracts spatial features (edges, textures, patterns)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maps are generated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Flattening + Fully Connected layers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 outputs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probabilities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probability class is selected</a:t>
            </a:r>
          </a:p>
        </p:txBody>
      </p:sp>
    </p:spTree>
    <p:extLst>
      <p:ext uri="{BB962C8B-B14F-4D97-AF65-F5344CB8AC3E}">
        <p14:creationId xmlns:p14="http://schemas.microsoft.com/office/powerpoint/2010/main" val="329161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56335-74E1-8129-3F18-A1C1E4C72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49D462D-53C5-E4CA-E3ED-A3D402A535FE}"/>
              </a:ext>
            </a:extLst>
          </p:cNvPr>
          <p:cNvSpPr/>
          <p:nvPr/>
        </p:nvSpPr>
        <p:spPr>
          <a:xfrm>
            <a:off x="0" y="6369977"/>
            <a:ext cx="12192000" cy="48802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5A1D1A-EE2E-45F0-18DE-29DF22921352}"/>
              </a:ext>
            </a:extLst>
          </p:cNvPr>
          <p:cNvSpPr txBox="1"/>
          <p:nvPr/>
        </p:nvSpPr>
        <p:spPr>
          <a:xfrm>
            <a:off x="57129" y="238495"/>
            <a:ext cx="384111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2:Object Localization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220EFD-E3ED-921B-0526-19D9F5C9E8C8}"/>
              </a:ext>
            </a:extLst>
          </p:cNvPr>
          <p:cNvSpPr txBox="1"/>
          <p:nvPr/>
        </p:nvSpPr>
        <p:spPr>
          <a:xfrm>
            <a:off x="6175566" y="1287203"/>
            <a:ext cx="3140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Where is the dog in this image?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711FA6-15D2-B3A9-25F9-9FDFB890AAD9}"/>
              </a:ext>
            </a:extLst>
          </p:cNvPr>
          <p:cNvSpPr txBox="1"/>
          <p:nvPr/>
        </p:nvSpPr>
        <p:spPr>
          <a:xfrm>
            <a:off x="6155916" y="4788950"/>
            <a:ext cx="12539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 : Output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25CA7F-F131-895E-BCDD-82A4ADDD13DF}"/>
              </a:ext>
            </a:extLst>
          </p:cNvPr>
          <p:cNvSpPr txBox="1"/>
          <p:nvPr/>
        </p:nvSpPr>
        <p:spPr>
          <a:xfrm>
            <a:off x="7219256" y="4896550"/>
            <a:ext cx="11744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Dog=1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Person=0  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F9BFD5-75DA-1019-3A00-8B4680C6C746}"/>
              </a:ext>
            </a:extLst>
          </p:cNvPr>
          <p:cNvSpPr txBox="1"/>
          <p:nvPr/>
        </p:nvSpPr>
        <p:spPr>
          <a:xfrm>
            <a:off x="8556038" y="4927449"/>
            <a:ext cx="11744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Bounding Box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F364F2-C66E-4EC0-7D4A-A602797BC27A}"/>
              </a:ext>
            </a:extLst>
          </p:cNvPr>
          <p:cNvSpPr txBox="1"/>
          <p:nvPr/>
        </p:nvSpPr>
        <p:spPr>
          <a:xfrm>
            <a:off x="8255956" y="4911818"/>
            <a:ext cx="30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+</a:t>
            </a:r>
            <a:endParaRPr lang="en-IN" b="1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0AA80AD-EA39-0739-9059-5D2157761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263" y="1878712"/>
            <a:ext cx="2752002" cy="27402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CD9C0D1-E2CC-9C5F-5194-25127FC20DA4}"/>
                  </a:ext>
                </a:extLst>
              </p:cNvPr>
              <p:cNvSpPr txBox="1"/>
              <p:nvPr/>
            </p:nvSpPr>
            <p:spPr>
              <a:xfrm>
                <a:off x="21090" y="856567"/>
                <a:ext cx="5835040" cy="51153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Object localization extends classification by predicting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bounding box coordinates</a:t>
                </a: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Along with class prediction, the network predicts: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Pc​ → Object Presence Probability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Bx​,By​ → Bounding Box Center</a:t>
                </a: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Bw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​,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Bh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→ Bounding Box Dimensions 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C1​,C2​ → Class Probabilities 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 Vector:  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000" b="1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m:rPr>
                        <m:nor/>
                      </m:rPr>
                      <a:rPr lang="en-IN" sz="2000" b="1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Pc</m:t>
                    </m:r>
                    <m:r>
                      <m:rPr>
                        <m:nor/>
                      </m:rPr>
                      <a:rPr lang="en-IN" sz="2000" b="1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​,</m:t>
                    </m:r>
                    <m:r>
                      <m:rPr>
                        <m:nor/>
                      </m:rPr>
                      <a:rPr lang="en-IN" sz="2000" b="1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Bx</m:t>
                    </m:r>
                    <m:r>
                      <m:rPr>
                        <m:nor/>
                      </m:rPr>
                      <a:rPr lang="en-IN" sz="2000" b="1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​,</m:t>
                    </m:r>
                    <m:r>
                      <m:rPr>
                        <m:nor/>
                      </m:rPr>
                      <a:rPr lang="en-IN" sz="2000" b="1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By</m:t>
                    </m:r>
                    <m:r>
                      <m:rPr>
                        <m:nor/>
                      </m:rPr>
                      <a:rPr lang="en-IN" sz="2000" b="1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​,</m:t>
                    </m:r>
                    <m:r>
                      <m:rPr>
                        <m:nor/>
                      </m:rPr>
                      <a:rPr lang="en-IN" sz="2000" b="1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Bw</m:t>
                    </m:r>
                    <m:r>
                      <m:rPr>
                        <m:nor/>
                      </m:rPr>
                      <a:rPr lang="en-IN" sz="2000" b="1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​,</m:t>
                    </m:r>
                    <m:r>
                      <m:rPr>
                        <m:nor/>
                      </m:rPr>
                      <a:rPr lang="en-IN" sz="2000" b="1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Bh</m:t>
                    </m:r>
                    <m:r>
                      <m:rPr>
                        <m:nor/>
                      </m:rPr>
                      <a:rPr lang="en-IN" sz="2000" b="1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​,</m:t>
                    </m:r>
                    <m:r>
                      <m:rPr>
                        <m:nor/>
                      </m:rPr>
                      <a:rPr lang="en-IN" sz="2000" b="1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m:rPr>
                        <m:nor/>
                      </m:rPr>
                      <a:rPr lang="en-IN" sz="2000" b="1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1​,</m:t>
                    </m:r>
                    <m:r>
                      <m:rPr>
                        <m:nor/>
                      </m:rPr>
                      <a:rPr lang="en-IN" sz="2000" b="1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m:rPr>
                        <m:nor/>
                      </m:rPr>
                      <a:rPr lang="en-IN" sz="2000" b="1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2​]</m:t>
                    </m:r>
                  </m:oMath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buNone/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Output: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 label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Bounding box coordinates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CD9C0D1-E2CC-9C5F-5194-25127FC20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90" y="856567"/>
                <a:ext cx="5835040" cy="5115311"/>
              </a:xfrm>
              <a:prstGeom prst="rect">
                <a:avLst/>
              </a:prstGeom>
              <a:blipFill>
                <a:blip r:embed="rId4"/>
                <a:stretch>
                  <a:fillRect l="-1044" b="-11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9871D199-157B-4018-70AE-798ED82AF5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5697" y="656192"/>
            <a:ext cx="1969174" cy="4711521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FD81352-216D-C3A4-0751-0625D5D38B53}"/>
              </a:ext>
            </a:extLst>
          </p:cNvPr>
          <p:cNvCxnSpPr/>
          <p:nvPr/>
        </p:nvCxnSpPr>
        <p:spPr>
          <a:xfrm>
            <a:off x="9215596" y="3429000"/>
            <a:ext cx="756768" cy="0"/>
          </a:xfrm>
          <a:prstGeom prst="straightConnector1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BFF567E-A720-788C-0DBD-60C552122265}"/>
              </a:ext>
            </a:extLst>
          </p:cNvPr>
          <p:cNvSpPr txBox="1"/>
          <p:nvPr/>
        </p:nvSpPr>
        <p:spPr>
          <a:xfrm>
            <a:off x="9103301" y="2584535"/>
            <a:ext cx="9813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462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FA92ACA-B723-1B8E-70DE-24B9C5B5464D}"/>
              </a:ext>
            </a:extLst>
          </p:cNvPr>
          <p:cNvSpPr/>
          <p:nvPr/>
        </p:nvSpPr>
        <p:spPr>
          <a:xfrm>
            <a:off x="0" y="6369977"/>
            <a:ext cx="12192000" cy="48802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2DDA27-2F60-A43E-0E02-6788798EA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76" y="1517806"/>
            <a:ext cx="6716734" cy="42402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091FD9-E72C-08C5-A958-7E31997604F7}"/>
              </a:ext>
            </a:extLst>
          </p:cNvPr>
          <p:cNvSpPr txBox="1"/>
          <p:nvPr/>
        </p:nvSpPr>
        <p:spPr>
          <a:xfrm>
            <a:off x="2186608" y="197990"/>
            <a:ext cx="771276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n w="0"/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How does YOLO combine them ?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38FD2F-E6BE-7F66-4F02-3BE933A15C88}"/>
              </a:ext>
            </a:extLst>
          </p:cNvPr>
          <p:cNvSpPr txBox="1"/>
          <p:nvPr/>
        </p:nvSpPr>
        <p:spPr>
          <a:xfrm>
            <a:off x="7474226" y="1563841"/>
            <a:ext cx="4568342" cy="3730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 predicts: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probabilities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Bounding box coordinates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score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in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forward pass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network.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That’s why it performs classification + localization simultaneously.</a:t>
            </a:r>
          </a:p>
        </p:txBody>
      </p:sp>
    </p:spTree>
    <p:extLst>
      <p:ext uri="{BB962C8B-B14F-4D97-AF65-F5344CB8AC3E}">
        <p14:creationId xmlns:p14="http://schemas.microsoft.com/office/powerpoint/2010/main" val="2819911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4BCABD-8F3B-CD66-18A9-8AB22F4B59F2}"/>
              </a:ext>
            </a:extLst>
          </p:cNvPr>
          <p:cNvSpPr/>
          <p:nvPr/>
        </p:nvSpPr>
        <p:spPr>
          <a:xfrm>
            <a:off x="0" y="6369977"/>
            <a:ext cx="12192000" cy="48802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0B3A2B-D5A1-051B-0AEF-0E8E329ED732}"/>
              </a:ext>
            </a:extLst>
          </p:cNvPr>
          <p:cNvSpPr txBox="1"/>
          <p:nvPr/>
        </p:nvSpPr>
        <p:spPr>
          <a:xfrm>
            <a:off x="864477" y="81896"/>
            <a:ext cx="1132752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0" cap="none" spc="0" dirty="0">
                <a:ln w="0"/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What is CNN (Convolutional Neural Network)? 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965F43-1090-ECE4-BAD1-C2C05F55D7A7}"/>
              </a:ext>
            </a:extLst>
          </p:cNvPr>
          <p:cNvSpPr txBox="1"/>
          <p:nvPr/>
        </p:nvSpPr>
        <p:spPr>
          <a:xfrm>
            <a:off x="698938" y="1100646"/>
            <a:ext cx="11072648" cy="96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 (CNN) is an advanced version of artificial neural networks (ANNs), primarily designed to extract features from grid-like matrix datasets.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AA9C131-D230-B9A7-1A68-D8EED9667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938" y="2228193"/>
            <a:ext cx="10799379" cy="382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660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EEA95-E6C3-7C07-AB2C-B7C42A5B0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B5EB4A9-490F-55D7-916E-7E581109323B}"/>
              </a:ext>
            </a:extLst>
          </p:cNvPr>
          <p:cNvSpPr/>
          <p:nvPr/>
        </p:nvSpPr>
        <p:spPr>
          <a:xfrm>
            <a:off x="0" y="6369977"/>
            <a:ext cx="12192000" cy="48802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3893D79-9E88-85D4-DC8E-396CD29F9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752" y="2823859"/>
            <a:ext cx="8689427" cy="29847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CCF7A29-3A4C-5FA8-78DB-509BB86DB68D}"/>
              </a:ext>
            </a:extLst>
          </p:cNvPr>
          <p:cNvSpPr txBox="1"/>
          <p:nvPr/>
        </p:nvSpPr>
        <p:spPr>
          <a:xfrm>
            <a:off x="139262" y="5969867"/>
            <a:ext cx="122760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Use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Detecting and correcting noise in infrared images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military target tracking or medical imaging)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A072BB-6DB2-A1E8-BE73-CF80C8F0F0AC}"/>
              </a:ext>
            </a:extLst>
          </p:cNvPr>
          <p:cNvSpPr txBox="1"/>
          <p:nvPr/>
        </p:nvSpPr>
        <p:spPr>
          <a:xfrm>
            <a:off x="139262" y="778897"/>
            <a:ext cx="7680433" cy="1883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Layer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Detects local patterns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Pooling Layer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Down samples feature maps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Fully Connected Layer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Makes final predictions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Classification, segmentation, or image correction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462207-0375-E361-E476-6B7F9ACB1C9C}"/>
              </a:ext>
            </a:extLst>
          </p:cNvPr>
          <p:cNvSpPr txBox="1"/>
          <p:nvPr/>
        </p:nvSpPr>
        <p:spPr>
          <a:xfrm>
            <a:off x="3788979" y="32580"/>
            <a:ext cx="61695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n w="0"/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4000" b="0" cap="none" spc="0" dirty="0">
                <a:ln w="0"/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ow CNN Works  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723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A76293-E0C2-E473-2D92-E5512722E78D}"/>
              </a:ext>
            </a:extLst>
          </p:cNvPr>
          <p:cNvSpPr/>
          <p:nvPr/>
        </p:nvSpPr>
        <p:spPr>
          <a:xfrm>
            <a:off x="0" y="6369977"/>
            <a:ext cx="12192000" cy="48802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30A870-2C57-D9E5-869C-B49D6093CB91}"/>
              </a:ext>
            </a:extLst>
          </p:cNvPr>
          <p:cNvSpPr txBox="1"/>
          <p:nvPr/>
        </p:nvSpPr>
        <p:spPr>
          <a:xfrm>
            <a:off x="3096362" y="154456"/>
            <a:ext cx="685693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0" cap="none" spc="0" dirty="0">
                <a:ln w="0"/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YOLO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AEA7A2-A1FE-009D-2251-C1A2027CFE34}"/>
              </a:ext>
            </a:extLst>
          </p:cNvPr>
          <p:cNvSpPr txBox="1"/>
          <p:nvPr/>
        </p:nvSpPr>
        <p:spPr>
          <a:xfrm>
            <a:off x="433551" y="1520169"/>
            <a:ext cx="4853151" cy="4422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🚗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Autonomous Vehicles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pedestrians, vehicles, traffic signs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real-time decision making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road safety</a:t>
            </a:r>
          </a:p>
          <a:p>
            <a:pPr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📹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Surveillance &amp; Security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CCTV monitoring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Intrusion detection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Suspicious activity tracking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599628-6635-B166-1E22-E9FE92FC956C}"/>
              </a:ext>
            </a:extLst>
          </p:cNvPr>
          <p:cNvSpPr txBox="1"/>
          <p:nvPr/>
        </p:nvSpPr>
        <p:spPr>
          <a:xfrm>
            <a:off x="6627687" y="1520169"/>
            <a:ext cx="5373587" cy="44228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🚦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Traffic Monitoring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counting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 estimation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Congestion analysis</a:t>
            </a:r>
          </a:p>
          <a:p>
            <a:pPr>
              <a:lnSpc>
                <a:spcPct val="150000"/>
              </a:lnSpc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🛍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Retail &amp; Inventory Management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detection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behaviour analysis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billing systems</a:t>
            </a:r>
          </a:p>
        </p:txBody>
      </p:sp>
    </p:spTree>
    <p:extLst>
      <p:ext uri="{BB962C8B-B14F-4D97-AF65-F5344CB8AC3E}">
        <p14:creationId xmlns:p14="http://schemas.microsoft.com/office/powerpoint/2010/main" val="1018388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0BD01D-D379-3B01-605B-EEA4690FBA30}"/>
              </a:ext>
            </a:extLst>
          </p:cNvPr>
          <p:cNvSpPr/>
          <p:nvPr/>
        </p:nvSpPr>
        <p:spPr>
          <a:xfrm>
            <a:off x="0" y="6369977"/>
            <a:ext cx="12192000" cy="488023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60325D-8F4D-D8CC-9DE3-98CD4E66D439}"/>
              </a:ext>
            </a:extLst>
          </p:cNvPr>
          <p:cNvSpPr txBox="1"/>
          <p:nvPr/>
        </p:nvSpPr>
        <p:spPr>
          <a:xfrm>
            <a:off x="2667000" y="2457450"/>
            <a:ext cx="644604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400" b="0" cap="none" spc="0" dirty="0">
                <a:ln w="0"/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400" b="0" cap="none" spc="0" dirty="0">
              <a:ln w="0"/>
              <a:effectLst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3994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760</Words>
  <Application>Microsoft Office PowerPoint</Application>
  <PresentationFormat>Widescreen</PresentationFormat>
  <Paragraphs>110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Wingdings</vt:lpstr>
      <vt:lpstr>Office Theme</vt:lpstr>
      <vt:lpstr>Jaypee University of Engineering &amp; Technology Department of Computer Science &amp; Engineering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GARV GANG</dc:creator>
  <cp:lastModifiedBy>sourav kumar</cp:lastModifiedBy>
  <cp:revision>17</cp:revision>
  <dcterms:created xsi:type="dcterms:W3CDTF">2026-02-17T13:01:31Z</dcterms:created>
  <dcterms:modified xsi:type="dcterms:W3CDTF">2026-02-18T10:15:40Z</dcterms:modified>
</cp:coreProperties>
</file>