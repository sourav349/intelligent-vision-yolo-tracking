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  <p:sldMasterId id="2147483650" r:id="rId2"/>
  </p:sldMasterIdLst>
  <p:notesMasterIdLst>
    <p:notesMasterId r:id="rId17"/>
  </p:notesMasterIdLst>
  <p:sldIdLst>
    <p:sldId id="256" r:id="rId3"/>
    <p:sldId id="278" r:id="rId4"/>
    <p:sldId id="279" r:id="rId5"/>
    <p:sldId id="259" r:id="rId6"/>
    <p:sldId id="267" r:id="rId7"/>
    <p:sldId id="268" r:id="rId8"/>
    <p:sldId id="269" r:id="rId9"/>
    <p:sldId id="270" r:id="rId10"/>
    <p:sldId id="274" r:id="rId11"/>
    <p:sldId id="273" r:id="rId12"/>
    <p:sldId id="275" r:id="rId13"/>
    <p:sldId id="277" r:id="rId14"/>
    <p:sldId id="276" r:id="rId15"/>
    <p:sldId id="266" r:id="rId16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" roundtripDataSignature="AMtx7mh3gXf+jKUmv4yiyWU8G+mmIbnS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CD267C1-54C3-4F12-B5FF-19093C03A653}">
  <a:tblStyle styleId="{CCD267C1-54C3-4F12-B5FF-19093C03A65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customschemas.google.com/relationships/presentationmetadata" Target="meta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bg>
      <p:bgPr>
        <a:solidFill>
          <a:schemeClr val="lt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8"/>
          <p:cNvSpPr/>
          <p:nvPr/>
        </p:nvSpPr>
        <p:spPr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1" name="Google Shape;21;p8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2" name="Google Shape;22;p8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3" name="Google Shape;23;p8"/>
          <p:cNvSpPr txBox="1"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wentieth Century"/>
              <a:buNone/>
              <a:defRPr cap="none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700"/>
              </a:spcBef>
              <a:spcAft>
                <a:spcPts val="0"/>
              </a:spcAft>
              <a:buSzPts val="1560"/>
              <a:buNone/>
              <a:defRPr sz="2600">
                <a:solidFill>
                  <a:srgbClr val="FFFFFF"/>
                </a:solidFill>
              </a:defRPr>
            </a:lvl1pPr>
            <a:lvl2pPr lvl="1" algn="ctr">
              <a:spcBef>
                <a:spcPts val="550"/>
              </a:spcBef>
              <a:spcAft>
                <a:spcPts val="0"/>
              </a:spcAft>
              <a:buSzPts val="1260"/>
              <a:buNone/>
              <a:defRPr/>
            </a:lvl2pPr>
            <a:lvl3pPr lvl="2" algn="ctr">
              <a:spcBef>
                <a:spcPts val="500"/>
              </a:spcBef>
              <a:spcAft>
                <a:spcPts val="0"/>
              </a:spcAft>
              <a:buSzPts val="1350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SzPts val="1350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SzPts val="117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dt" idx="10"/>
          </p:nvPr>
        </p:nvSpPr>
        <p:spPr>
          <a:xfrm>
            <a:off x="76200" y="6068699"/>
            <a:ext cx="2057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000"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ftr" idx="11"/>
          </p:nvPr>
        </p:nvSpPr>
        <p:spPr>
          <a:xfrm>
            <a:off x="2085393" y="236538"/>
            <a:ext cx="586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8"/>
          <p:cNvSpPr txBox="1">
            <a:spLocks noGrp="1"/>
          </p:cNvSpPr>
          <p:nvPr>
            <p:ph type="sldNum" idx="12"/>
          </p:nvPr>
        </p:nvSpPr>
        <p:spPr>
          <a:xfrm>
            <a:off x="8001000" y="228600"/>
            <a:ext cx="838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 sz="1400" b="1" i="0" u="none" strike="noStrike" cap="non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lvl="1" indent="0" algn="ctr">
              <a:spcBef>
                <a:spcPts val="0"/>
              </a:spcBef>
              <a:buNone/>
              <a:defRPr sz="1400" b="1" i="0" u="none" strike="noStrike" cap="non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lvl="2" indent="0" algn="ctr">
              <a:spcBef>
                <a:spcPts val="0"/>
              </a:spcBef>
              <a:buNone/>
              <a:defRPr sz="1400" b="1" i="0" u="none" strike="noStrike" cap="non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lvl="3" indent="0" algn="ctr">
              <a:spcBef>
                <a:spcPts val="0"/>
              </a:spcBef>
              <a:buNone/>
              <a:defRPr sz="1400" b="1" i="0" u="none" strike="noStrike" cap="non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lvl="4" indent="0" algn="ctr">
              <a:spcBef>
                <a:spcPts val="0"/>
              </a:spcBef>
              <a:buNone/>
              <a:defRPr sz="1400" b="1" i="0" u="none" strike="noStrike" cap="non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lvl="5" indent="0" algn="ctr">
              <a:spcBef>
                <a:spcPts val="0"/>
              </a:spcBef>
              <a:buNone/>
              <a:defRPr sz="1400" b="1" i="0" u="none" strike="noStrike" cap="non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lvl="6" indent="0" algn="ctr">
              <a:spcBef>
                <a:spcPts val="0"/>
              </a:spcBef>
              <a:buNone/>
              <a:defRPr sz="1400" b="1" i="0" u="none" strike="noStrike" cap="non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lvl="7" indent="0" algn="ctr">
              <a:spcBef>
                <a:spcPts val="0"/>
              </a:spcBef>
              <a:buNone/>
              <a:defRPr sz="1400" b="1" i="0" u="none" strike="noStrike" cap="non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lvl="8" indent="0" algn="ctr">
              <a:spcBef>
                <a:spcPts val="0"/>
              </a:spcBef>
              <a:buNone/>
              <a:defRPr sz="1400" b="1" i="0" u="none" strike="noStrike" cap="non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wentieth Century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dt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ft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lvl="1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lvl="2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lvl="3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lvl="4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lvl="5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lvl="6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lvl="7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lvl="8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1"/>
          </p:nvPr>
        </p:nvSpPr>
        <p:spPr>
          <a:xfrm>
            <a:off x="612648" y="160020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97180" algn="l">
              <a:spcBef>
                <a:spcPts val="700"/>
              </a:spcBef>
              <a:spcAft>
                <a:spcPts val="0"/>
              </a:spcAft>
              <a:buSzPts val="1080"/>
              <a:buChar char="◻"/>
              <a:defRPr/>
            </a:lvl1pPr>
            <a:lvl2pPr marL="914400" lvl="1" indent="-308610" algn="l">
              <a:spcBef>
                <a:spcPts val="550"/>
              </a:spcBef>
              <a:spcAft>
                <a:spcPts val="0"/>
              </a:spcAft>
              <a:buSzPts val="1260"/>
              <a:buChar char="🞑"/>
              <a:defRPr/>
            </a:lvl2pPr>
            <a:lvl3pPr marL="1371600" lvl="2" indent="-314325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marL="1828800" lvl="3" indent="-314325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marL="2286000" lvl="4" indent="-302895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bg>
      <p:bgPr>
        <a:blipFill rotWithShape="1">
          <a:blip r:embed="rId2">
            <a:alphaModFix/>
          </a:blip>
          <a:tile tx="0" ty="0" sx="100000" sy="100000" flip="none" algn="tl"/>
        </a:blip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700"/>
              </a:spcBef>
              <a:spcAft>
                <a:spcPts val="0"/>
              </a:spcAft>
              <a:buSzPts val="1680"/>
              <a:buNone/>
              <a:defRPr sz="2800">
                <a:solidFill>
                  <a:schemeClr val="dk2"/>
                </a:solidFill>
              </a:defRPr>
            </a:lvl1pPr>
            <a:lvl2pPr marL="914400" lvl="1" indent="-228600" algn="l">
              <a:spcBef>
                <a:spcPts val="550"/>
              </a:spcBef>
              <a:spcAft>
                <a:spcPts val="0"/>
              </a:spcAft>
              <a:buSzPts val="126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500"/>
              </a:spcBef>
              <a:spcAft>
                <a:spcPts val="0"/>
              </a:spcAft>
              <a:buSzPts val="12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SzPts val="105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SzPts val="910"/>
              <a:buNone/>
              <a:defRPr sz="1400">
                <a:solidFill>
                  <a:srgbClr val="888888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46" name="Google Shape;46;p10"/>
          <p:cNvSpPr/>
          <p:nvPr/>
        </p:nvSpPr>
        <p:spPr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7" name="Google Shape;47;p10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8" name="Google Shape;48;p10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9" name="Google Shape;49;p10"/>
          <p:cNvSpPr txBox="1"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Twentieth Century"/>
              <a:buNone/>
              <a:defRPr sz="4400" b="0" cap="none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0"/>
          <p:cNvSpPr txBox="1">
            <a:spLocks noGrp="1"/>
          </p:cNvSpPr>
          <p:nvPr>
            <p:ph type="dt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0" y="1752600"/>
            <a:ext cx="1295400" cy="701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2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lvl="1" indent="0" algn="ctr">
              <a:spcBef>
                <a:spcPts val="0"/>
              </a:spcBef>
              <a:buNone/>
              <a:defRPr sz="2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lvl="2" indent="0" algn="ctr">
              <a:spcBef>
                <a:spcPts val="0"/>
              </a:spcBef>
              <a:buNone/>
              <a:defRPr sz="2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lvl="3" indent="0" algn="ctr">
              <a:spcBef>
                <a:spcPts val="0"/>
              </a:spcBef>
              <a:buNone/>
              <a:defRPr sz="2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lvl="4" indent="0" algn="ctr">
              <a:spcBef>
                <a:spcPts val="0"/>
              </a:spcBef>
              <a:buNone/>
              <a:defRPr sz="2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lvl="5" indent="0" algn="ctr">
              <a:spcBef>
                <a:spcPts val="0"/>
              </a:spcBef>
              <a:buNone/>
              <a:defRPr sz="2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lvl="6" indent="0" algn="ctr">
              <a:spcBef>
                <a:spcPts val="0"/>
              </a:spcBef>
              <a:buNone/>
              <a:defRPr sz="2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lvl="7" indent="0" algn="ctr">
              <a:spcBef>
                <a:spcPts val="0"/>
              </a:spcBef>
              <a:buNone/>
              <a:defRPr sz="2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lvl="8" indent="0" algn="ctr">
              <a:spcBef>
                <a:spcPts val="0"/>
              </a:spcBef>
              <a:buNone/>
              <a:defRPr sz="2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ft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bg>
      <p:bgPr>
        <a:solidFill>
          <a:schemeClr val="lt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/>
          <p:nvPr/>
        </p:nvSpPr>
        <p:spPr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5" name="Google Shape;55;p7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6" name="Google Shape;56;p7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7" name="Google Shape;57;p7"/>
          <p:cNvSpPr txBox="1"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wentieth Century"/>
              <a:buNone/>
              <a:defRPr cap="none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7"/>
          <p:cNvSpPr txBox="1"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700"/>
              </a:spcBef>
              <a:spcAft>
                <a:spcPts val="0"/>
              </a:spcAft>
              <a:buSzPts val="1560"/>
              <a:buNone/>
              <a:defRPr sz="2600">
                <a:solidFill>
                  <a:srgbClr val="FFFFFF"/>
                </a:solidFill>
              </a:defRPr>
            </a:lvl1pPr>
            <a:lvl2pPr lvl="1" algn="ctr">
              <a:spcBef>
                <a:spcPts val="550"/>
              </a:spcBef>
              <a:spcAft>
                <a:spcPts val="0"/>
              </a:spcAft>
              <a:buSzPts val="1260"/>
              <a:buNone/>
              <a:defRPr/>
            </a:lvl2pPr>
            <a:lvl3pPr lvl="2" algn="ctr">
              <a:spcBef>
                <a:spcPts val="500"/>
              </a:spcBef>
              <a:spcAft>
                <a:spcPts val="0"/>
              </a:spcAft>
              <a:buSzPts val="1350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SzPts val="1350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SzPts val="117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7"/>
          <p:cNvSpPr txBox="1">
            <a:spLocks noGrp="1"/>
          </p:cNvSpPr>
          <p:nvPr>
            <p:ph type="dt" idx="10"/>
          </p:nvPr>
        </p:nvSpPr>
        <p:spPr>
          <a:xfrm>
            <a:off x="76200" y="6068699"/>
            <a:ext cx="2057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000"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7"/>
          <p:cNvSpPr txBox="1">
            <a:spLocks noGrp="1"/>
          </p:cNvSpPr>
          <p:nvPr>
            <p:ph type="ftr" idx="11"/>
          </p:nvPr>
        </p:nvSpPr>
        <p:spPr>
          <a:xfrm>
            <a:off x="2085393" y="236538"/>
            <a:ext cx="586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7"/>
          <p:cNvSpPr txBox="1">
            <a:spLocks noGrp="1"/>
          </p:cNvSpPr>
          <p:nvPr>
            <p:ph type="sldNum" idx="12"/>
          </p:nvPr>
        </p:nvSpPr>
        <p:spPr>
          <a:xfrm>
            <a:off x="8001000" y="228600"/>
            <a:ext cx="838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 sz="1400" b="1" i="0" u="none" strike="noStrike" cap="non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lvl="1" indent="0" algn="ctr">
              <a:spcBef>
                <a:spcPts val="0"/>
              </a:spcBef>
              <a:buNone/>
              <a:defRPr sz="1400" b="1" i="0" u="none" strike="noStrike" cap="non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lvl="2" indent="0" algn="ctr">
              <a:spcBef>
                <a:spcPts val="0"/>
              </a:spcBef>
              <a:buNone/>
              <a:defRPr sz="1400" b="1" i="0" u="none" strike="noStrike" cap="non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lvl="3" indent="0" algn="ctr">
              <a:spcBef>
                <a:spcPts val="0"/>
              </a:spcBef>
              <a:buNone/>
              <a:defRPr sz="1400" b="1" i="0" u="none" strike="noStrike" cap="non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lvl="4" indent="0" algn="ctr">
              <a:spcBef>
                <a:spcPts val="0"/>
              </a:spcBef>
              <a:buNone/>
              <a:defRPr sz="1400" b="1" i="0" u="none" strike="noStrike" cap="non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lvl="5" indent="0" algn="ctr">
              <a:spcBef>
                <a:spcPts val="0"/>
              </a:spcBef>
              <a:buNone/>
              <a:defRPr sz="1400" b="1" i="0" u="none" strike="noStrike" cap="non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lvl="6" indent="0" algn="ctr">
              <a:spcBef>
                <a:spcPts val="0"/>
              </a:spcBef>
              <a:buNone/>
              <a:defRPr sz="1400" b="1" i="0" u="none" strike="noStrike" cap="non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lvl="7" indent="0" algn="ctr">
              <a:spcBef>
                <a:spcPts val="0"/>
              </a:spcBef>
              <a:buNone/>
              <a:defRPr sz="1400" b="1" i="0" u="none" strike="noStrike" cap="non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lvl="8" indent="0" algn="ctr">
              <a:spcBef>
                <a:spcPts val="0"/>
              </a:spcBef>
              <a:buNone/>
              <a:defRPr sz="1400" b="1" i="0" u="none" strike="noStrike" cap="non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1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609600" y="1589567"/>
            <a:ext cx="3886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97180" algn="l">
              <a:spcBef>
                <a:spcPts val="700"/>
              </a:spcBef>
              <a:spcAft>
                <a:spcPts val="0"/>
              </a:spcAft>
              <a:buSzPts val="1080"/>
              <a:buChar char="◻"/>
              <a:defRPr/>
            </a:lvl1pPr>
            <a:lvl2pPr marL="914400" lvl="1" indent="-308610" algn="l">
              <a:spcBef>
                <a:spcPts val="550"/>
              </a:spcBef>
              <a:spcAft>
                <a:spcPts val="0"/>
              </a:spcAft>
              <a:buSzPts val="1260"/>
              <a:buChar char="🞑"/>
              <a:defRPr/>
            </a:lvl2pPr>
            <a:lvl3pPr marL="1371600" lvl="2" indent="-314325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marL="1828800" lvl="3" indent="-314325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marL="2286000" lvl="4" indent="-302895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body" idx="2"/>
          </p:nvPr>
        </p:nvSpPr>
        <p:spPr>
          <a:xfrm>
            <a:off x="4844901" y="1589567"/>
            <a:ext cx="3886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97180" algn="l">
              <a:spcBef>
                <a:spcPts val="700"/>
              </a:spcBef>
              <a:spcAft>
                <a:spcPts val="0"/>
              </a:spcAft>
              <a:buSzPts val="1080"/>
              <a:buChar char="◻"/>
              <a:defRPr/>
            </a:lvl1pPr>
            <a:lvl2pPr marL="914400" lvl="1" indent="-308610" algn="l">
              <a:spcBef>
                <a:spcPts val="550"/>
              </a:spcBef>
              <a:spcAft>
                <a:spcPts val="0"/>
              </a:spcAft>
              <a:buSzPts val="1260"/>
              <a:buChar char="🞑"/>
              <a:defRPr/>
            </a:lvl2pPr>
            <a:lvl3pPr marL="1371600" lvl="2" indent="-314325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marL="1828800" lvl="3" indent="-314325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marL="2286000" lvl="4" indent="-302895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dt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8" name="Google Shape;68;p11"/>
          <p:cNvSpPr txBox="1">
            <a:spLocks noGrp="1"/>
          </p:cNvSpPr>
          <p:nvPr>
            <p:ph type="ft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2"/>
          <p:cNvSpPr txBox="1"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body" idx="1"/>
          </p:nvPr>
        </p:nvSpPr>
        <p:spPr>
          <a:xfrm>
            <a:off x="609600" y="2438400"/>
            <a:ext cx="3886200" cy="3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97180" algn="l">
              <a:spcBef>
                <a:spcPts val="700"/>
              </a:spcBef>
              <a:spcAft>
                <a:spcPts val="0"/>
              </a:spcAft>
              <a:buSzPts val="1080"/>
              <a:buChar char="◻"/>
              <a:defRPr/>
            </a:lvl1pPr>
            <a:lvl2pPr marL="914400" lvl="1" indent="-308610" algn="l">
              <a:spcBef>
                <a:spcPts val="550"/>
              </a:spcBef>
              <a:spcAft>
                <a:spcPts val="0"/>
              </a:spcAft>
              <a:buSzPts val="1260"/>
              <a:buChar char="🞑"/>
              <a:defRPr/>
            </a:lvl2pPr>
            <a:lvl3pPr marL="1371600" lvl="2" indent="-314325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marL="1828800" lvl="3" indent="-314325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marL="2286000" lvl="4" indent="-302895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body" idx="2"/>
          </p:nvPr>
        </p:nvSpPr>
        <p:spPr>
          <a:xfrm>
            <a:off x="4800600" y="2438400"/>
            <a:ext cx="3886200" cy="3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97180" algn="l">
              <a:spcBef>
                <a:spcPts val="700"/>
              </a:spcBef>
              <a:spcAft>
                <a:spcPts val="0"/>
              </a:spcAft>
              <a:buSzPts val="1080"/>
              <a:buChar char="◻"/>
              <a:defRPr/>
            </a:lvl1pPr>
            <a:lvl2pPr marL="914400" lvl="1" indent="-308610" algn="l">
              <a:spcBef>
                <a:spcPts val="550"/>
              </a:spcBef>
              <a:spcAft>
                <a:spcPts val="0"/>
              </a:spcAft>
              <a:buSzPts val="1260"/>
              <a:buChar char="🞑"/>
              <a:defRPr/>
            </a:lvl2pPr>
            <a:lvl3pPr marL="1371600" lvl="2" indent="-314325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marL="1828800" lvl="3" indent="-314325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marL="2286000" lvl="4" indent="-302895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dt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sldNum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ft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3"/>
          </p:nvPr>
        </p:nvSpPr>
        <p:spPr>
          <a:xfrm>
            <a:off x="609600" y="1752600"/>
            <a:ext cx="3886200" cy="6400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700"/>
              </a:spcBef>
              <a:spcAft>
                <a:spcPts val="0"/>
              </a:spcAft>
              <a:buSzPts val="1200"/>
              <a:buFont typeface="Twentieth Century"/>
              <a:buNone/>
              <a:defRPr sz="2000" b="1">
                <a:solidFill>
                  <a:srgbClr val="FFFFFF"/>
                </a:solidFill>
              </a:defRPr>
            </a:lvl1pPr>
            <a:lvl2pPr marL="914400" lvl="1" indent="-308610" algn="l">
              <a:spcBef>
                <a:spcPts val="550"/>
              </a:spcBef>
              <a:spcAft>
                <a:spcPts val="0"/>
              </a:spcAft>
              <a:buSzPts val="1260"/>
              <a:buChar char="🞑"/>
              <a:defRPr/>
            </a:lvl2pPr>
            <a:lvl3pPr marL="1371600" lvl="2" indent="-314325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marL="1828800" lvl="3" indent="-314325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marL="2286000" lvl="4" indent="-302895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body" idx="4"/>
          </p:nvPr>
        </p:nvSpPr>
        <p:spPr>
          <a:xfrm>
            <a:off x="4800600" y="1752600"/>
            <a:ext cx="3886200" cy="6400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700"/>
              </a:spcBef>
              <a:spcAft>
                <a:spcPts val="0"/>
              </a:spcAft>
              <a:buSzPts val="1200"/>
              <a:buFont typeface="Twentieth Century"/>
              <a:buNone/>
              <a:defRPr sz="2000" b="1">
                <a:solidFill>
                  <a:srgbClr val="FFFFFF"/>
                </a:solidFill>
              </a:defRPr>
            </a:lvl1pPr>
            <a:lvl2pPr marL="914400" lvl="1" indent="-308610" algn="l">
              <a:spcBef>
                <a:spcPts val="550"/>
              </a:spcBef>
              <a:spcAft>
                <a:spcPts val="0"/>
              </a:spcAft>
              <a:buSzPts val="1260"/>
              <a:buChar char="🞑"/>
              <a:defRPr/>
            </a:lvl2pPr>
            <a:lvl3pPr marL="1371600" lvl="2" indent="-314325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marL="1828800" lvl="3" indent="-314325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marL="2286000" lvl="4" indent="-302895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dt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ft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sldNum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lvl="1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lvl="2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lvl="3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lvl="4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lvl="5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lvl="6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lvl="7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lvl="8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  <a:defRPr sz="4400"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5"/>
          <p:cNvSpPr txBox="1">
            <a:spLocks noGrp="1"/>
          </p:cNvSpPr>
          <p:nvPr>
            <p:ph type="dt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5"/>
          <p:cNvSpPr txBox="1">
            <a:spLocks noGrp="1"/>
          </p:cNvSpPr>
          <p:nvPr>
            <p:ph type="ft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5"/>
          <p:cNvSpPr txBox="1">
            <a:spLocks noGrp="1"/>
          </p:cNvSpPr>
          <p:nvPr>
            <p:ph type="sldNum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lvl="1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lvl="2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lvl="3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lvl="4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lvl="5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lvl="6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lvl="7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lvl="8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2" name="Google Shape;92;p15"/>
          <p:cNvSpPr txBox="1">
            <a:spLocks noGrp="1"/>
          </p:cNvSpPr>
          <p:nvPr>
            <p:ph type="body" idx="1"/>
          </p:nvPr>
        </p:nvSpPr>
        <p:spPr>
          <a:xfrm>
            <a:off x="609600" y="1752600"/>
            <a:ext cx="1600200" cy="4343400"/>
          </a:xfrm>
          <a:prstGeom prst="rect">
            <a:avLst/>
          </a:prstGeom>
          <a:solidFill>
            <a:schemeClr val="accent2"/>
          </a:solidFill>
          <a:ln w="50800" cap="sq" cmpd="dbl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37150" tIns="182875" rIns="137150" bIns="91425" anchor="t" anchorCtr="0">
            <a:normAutofit/>
          </a:bodyPr>
          <a:lstStyle>
            <a:lvl1pPr marL="457200" lvl="0" indent="-228600" algn="l">
              <a:spcBef>
                <a:spcPts val="700"/>
              </a:spcBef>
              <a:spcAft>
                <a:spcPts val="0"/>
              </a:spcAft>
              <a:buSzPts val="1080"/>
              <a:buNone/>
              <a:def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840"/>
              <a:buNone/>
              <a:defRPr sz="12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1371600" lvl="2" indent="-228600" algn="l">
              <a:spcBef>
                <a:spcPts val="500"/>
              </a:spcBef>
              <a:spcAft>
                <a:spcPts val="0"/>
              </a:spcAft>
              <a:buSzPts val="750"/>
              <a:buNone/>
              <a:defRPr sz="10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SzPts val="675"/>
              <a:buNone/>
              <a:defRPr sz="9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SzPts val="585"/>
              <a:buNone/>
              <a:defRPr sz="9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93" name="Google Shape;93;p15"/>
          <p:cNvSpPr txBox="1">
            <a:spLocks noGrp="1"/>
          </p:cNvSpPr>
          <p:nvPr>
            <p:ph type="body" idx="2"/>
          </p:nvPr>
        </p:nvSpPr>
        <p:spPr>
          <a:xfrm>
            <a:off x="2362200" y="1752600"/>
            <a:ext cx="64008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97180" algn="l">
              <a:spcBef>
                <a:spcPts val="700"/>
              </a:spcBef>
              <a:spcAft>
                <a:spcPts val="0"/>
              </a:spcAft>
              <a:buSzPts val="1080"/>
              <a:buChar char="◻"/>
              <a:defRPr/>
            </a:lvl1pPr>
            <a:lvl2pPr marL="914400" lvl="1" indent="-308610" algn="l">
              <a:spcBef>
                <a:spcPts val="550"/>
              </a:spcBef>
              <a:spcAft>
                <a:spcPts val="0"/>
              </a:spcAft>
              <a:buSzPts val="1260"/>
              <a:buChar char="🞑"/>
              <a:defRPr/>
            </a:lvl2pPr>
            <a:lvl3pPr marL="1371600" lvl="2" indent="-314325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marL="1828800" lvl="3" indent="-314325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marL="2286000" lvl="4" indent="-302895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bg>
      <p:bgPr>
        <a:blipFill rotWithShape="1">
          <a:blip r:embed="rId2">
            <a:alphaModFix/>
          </a:blip>
          <a:tile tx="0" ty="0" sx="100000" sy="100000" flip="none" algn="tl"/>
        </a:blip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6"/>
          <p:cNvSpPr txBox="1">
            <a:spLocks noGrp="1"/>
          </p:cNvSpPr>
          <p:nvPr>
            <p:ph type="body" idx="1"/>
          </p:nvPr>
        </p:nvSpPr>
        <p:spPr>
          <a:xfrm>
            <a:off x="1600200" y="54864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700"/>
              </a:spcBef>
              <a:spcAft>
                <a:spcPts val="0"/>
              </a:spcAft>
              <a:buSzPts val="1020"/>
              <a:buFont typeface="Twentieth Century"/>
              <a:buNone/>
              <a:defRPr sz="1700"/>
            </a:lvl1pPr>
            <a:lvl2pPr marL="914400" lvl="1" indent="-228600" algn="l">
              <a:spcBef>
                <a:spcPts val="550"/>
              </a:spcBef>
              <a:spcAft>
                <a:spcPts val="0"/>
              </a:spcAft>
              <a:buSzPts val="840"/>
              <a:buFont typeface="Twentieth Century"/>
              <a:buNone/>
              <a:defRPr sz="1200"/>
            </a:lvl2pPr>
            <a:lvl3pPr marL="1371600" lvl="2" indent="-228600" algn="l">
              <a:spcBef>
                <a:spcPts val="500"/>
              </a:spcBef>
              <a:spcAft>
                <a:spcPts val="0"/>
              </a:spcAft>
              <a:buSzPts val="750"/>
              <a:buFont typeface="Twentieth Century"/>
              <a:buNone/>
              <a:defRPr sz="1000"/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SzPts val="675"/>
              <a:buFont typeface="Twentieth Century"/>
              <a:buNone/>
              <a:defRPr sz="900"/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SzPts val="585"/>
              <a:buFont typeface="Twentieth Century"/>
              <a:buNone/>
              <a:defRPr sz="9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96" name="Google Shape;96;p16"/>
          <p:cNvSpPr/>
          <p:nvPr/>
        </p:nvSpPr>
        <p:spPr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99" name="Google Shape;99;p16"/>
          <p:cNvSpPr txBox="1"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wentieth Century"/>
              <a:buNone/>
              <a:defRPr sz="2800" b="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6"/>
          <p:cNvSpPr/>
          <p:nvPr/>
        </p:nvSpPr>
        <p:spPr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01" name="Google Shape;101;p16"/>
          <p:cNvSpPr txBox="1">
            <a:spLocks noGrp="1"/>
          </p:cNvSpPr>
          <p:nvPr>
            <p:ph type="dt" idx="10"/>
          </p:nvPr>
        </p:nvSpPr>
        <p:spPr>
          <a:xfrm>
            <a:off x="62484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6"/>
          <p:cNvSpPr txBox="1">
            <a:spLocks noGrp="1"/>
          </p:cNvSpPr>
          <p:nvPr>
            <p:ph type="sldNum" idx="12"/>
          </p:nvPr>
        </p:nvSpPr>
        <p:spPr>
          <a:xfrm>
            <a:off x="0" y="4667249"/>
            <a:ext cx="1447800" cy="663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 sz="28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lvl="1" indent="0" algn="ctr">
              <a:spcBef>
                <a:spcPts val="0"/>
              </a:spcBef>
              <a:buNone/>
              <a:defRPr sz="28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lvl="2" indent="0" algn="ctr">
              <a:spcBef>
                <a:spcPts val="0"/>
              </a:spcBef>
              <a:buNone/>
              <a:defRPr sz="28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lvl="3" indent="0" algn="ctr">
              <a:spcBef>
                <a:spcPts val="0"/>
              </a:spcBef>
              <a:buNone/>
              <a:defRPr sz="28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lvl="4" indent="0" algn="ctr">
              <a:spcBef>
                <a:spcPts val="0"/>
              </a:spcBef>
              <a:buNone/>
              <a:defRPr sz="28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lvl="5" indent="0" algn="ctr">
              <a:spcBef>
                <a:spcPts val="0"/>
              </a:spcBef>
              <a:buNone/>
              <a:defRPr sz="28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lvl="6" indent="0" algn="ctr">
              <a:spcBef>
                <a:spcPts val="0"/>
              </a:spcBef>
              <a:buNone/>
              <a:defRPr sz="28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lvl="7" indent="0" algn="ctr">
              <a:spcBef>
                <a:spcPts val="0"/>
              </a:spcBef>
              <a:buNone/>
              <a:defRPr sz="28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lvl="8" indent="0" algn="ctr">
              <a:spcBef>
                <a:spcPts val="0"/>
              </a:spcBef>
              <a:buNone/>
              <a:defRPr sz="28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ftr" idx="11"/>
          </p:nvPr>
        </p:nvSpPr>
        <p:spPr>
          <a:xfrm>
            <a:off x="1600200" y="6248206"/>
            <a:ext cx="457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6"/>
          <p:cNvSpPr>
            <a:spLocks noGrp="1"/>
          </p:cNvSpPr>
          <p:nvPr>
            <p:ph type="pic" idx="2"/>
          </p:nvPr>
        </p:nvSpPr>
        <p:spPr>
          <a:xfrm>
            <a:off x="1560576" y="0"/>
            <a:ext cx="7583424" cy="4568952"/>
          </a:xfrm>
          <a:prstGeom prst="rect">
            <a:avLst/>
          </a:prstGeom>
          <a:solidFill>
            <a:srgbClr val="DCE5EE"/>
          </a:solidFill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7"/>
          <p:cNvSpPr txBox="1">
            <a:spLocks noGrp="1"/>
          </p:cNvSpPr>
          <p:nvPr>
            <p:ph type="body" idx="1"/>
          </p:nvPr>
        </p:nvSpPr>
        <p:spPr>
          <a:xfrm rot="5400000">
            <a:off x="2426208" y="-213360"/>
            <a:ext cx="4526280" cy="81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97180" algn="l">
              <a:spcBef>
                <a:spcPts val="700"/>
              </a:spcBef>
              <a:spcAft>
                <a:spcPts val="0"/>
              </a:spcAft>
              <a:buSzPts val="1080"/>
              <a:buChar char="◻"/>
              <a:defRPr/>
            </a:lvl1pPr>
            <a:lvl2pPr marL="914400" lvl="1" indent="-308610" algn="l">
              <a:spcBef>
                <a:spcPts val="550"/>
              </a:spcBef>
              <a:spcAft>
                <a:spcPts val="0"/>
              </a:spcAft>
              <a:buSzPts val="1260"/>
              <a:buChar char="🞑"/>
              <a:defRPr/>
            </a:lvl2pPr>
            <a:lvl3pPr marL="1371600" lvl="2" indent="-314325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marL="1828800" lvl="3" indent="-314325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marL="2286000" lvl="4" indent="-302895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108" name="Google Shape;108;p17"/>
          <p:cNvSpPr txBox="1">
            <a:spLocks noGrp="1"/>
          </p:cNvSpPr>
          <p:nvPr>
            <p:ph type="dt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ft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7"/>
          <p:cNvSpPr txBox="1">
            <a:spLocks noGrp="1"/>
          </p:cNvSpPr>
          <p:nvPr>
            <p:ph type="sldNum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bg>
      <p:bgPr>
        <a:solidFill>
          <a:schemeClr val="lt1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 txBox="1">
            <a:spLocks noGrp="1"/>
          </p:cNvSpPr>
          <p:nvPr>
            <p:ph type="title"/>
          </p:nvPr>
        </p:nvSpPr>
        <p:spPr>
          <a:xfrm rot="5400000">
            <a:off x="4823619" y="2339182"/>
            <a:ext cx="5516563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8"/>
          <p:cNvSpPr txBox="1">
            <a:spLocks noGrp="1"/>
          </p:cNvSpPr>
          <p:nvPr>
            <p:ph type="body" idx="1"/>
          </p:nvPr>
        </p:nvSpPr>
        <p:spPr>
          <a:xfrm rot="5400000">
            <a:off x="480218" y="586582"/>
            <a:ext cx="5516564" cy="55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97180" algn="l">
              <a:spcBef>
                <a:spcPts val="700"/>
              </a:spcBef>
              <a:spcAft>
                <a:spcPts val="0"/>
              </a:spcAft>
              <a:buSzPts val="1080"/>
              <a:buChar char="◻"/>
              <a:defRPr/>
            </a:lvl1pPr>
            <a:lvl2pPr marL="914400" lvl="1" indent="-308610" algn="l">
              <a:spcBef>
                <a:spcPts val="550"/>
              </a:spcBef>
              <a:spcAft>
                <a:spcPts val="0"/>
              </a:spcAft>
              <a:buSzPts val="1260"/>
              <a:buChar char="🞑"/>
              <a:defRPr/>
            </a:lvl2pPr>
            <a:lvl3pPr marL="1371600" lvl="2" indent="-314325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marL="1828800" lvl="3" indent="-314325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marL="2286000" lvl="4" indent="-302895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114" name="Google Shape;114;p18"/>
          <p:cNvSpPr txBox="1">
            <a:spLocks noGrp="1"/>
          </p:cNvSpPr>
          <p:nvPr>
            <p:ph type="dt" idx="10"/>
          </p:nvPr>
        </p:nvSpPr>
        <p:spPr>
          <a:xfrm>
            <a:off x="6553200" y="6248402"/>
            <a:ext cx="2209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8"/>
          <p:cNvSpPr txBox="1">
            <a:spLocks noGrp="1"/>
          </p:cNvSpPr>
          <p:nvPr>
            <p:ph type="ftr" idx="11"/>
          </p:nvPr>
        </p:nvSpPr>
        <p:spPr>
          <a:xfrm>
            <a:off x="457201" y="6248207"/>
            <a:ext cx="55734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8"/>
          <p:cNvSpPr/>
          <p:nvPr/>
        </p:nvSpPr>
        <p:spPr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18" name="Google Shape;118;p1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19" name="Google Shape;119;p18"/>
          <p:cNvSpPr txBox="1">
            <a:spLocks noGrp="1"/>
          </p:cNvSpPr>
          <p:nvPr>
            <p:ph type="sldNum" idx="12"/>
          </p:nvPr>
        </p:nvSpPr>
        <p:spPr>
          <a:xfrm rot="5400000">
            <a:off x="5989638" y="144462"/>
            <a:ext cx="533400" cy="244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wentieth Century"/>
              <a:buNone/>
              <a:defRPr sz="4400" b="0" i="0" u="none" strike="noStrike" cap="non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39090" algn="l" rtl="0"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ts val="1740"/>
              <a:buFont typeface="Noto Sans Symbols"/>
              <a:buChar char="◻"/>
              <a:defRPr sz="29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914400" marR="0" lvl="1" indent="-344170" algn="l" rtl="0">
              <a:spcBef>
                <a:spcPts val="550"/>
              </a:spcBef>
              <a:spcAft>
                <a:spcPts val="0"/>
              </a:spcAft>
              <a:buClr>
                <a:schemeClr val="accent1"/>
              </a:buClr>
              <a:buSzPts val="1820"/>
              <a:buFont typeface="Noto Sans Symbols"/>
              <a:buChar char="🞑"/>
              <a:defRPr sz="26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1371600" marR="0" lvl="2" indent="-338138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25"/>
              <a:buFont typeface="Noto Sans Symbols"/>
              <a:buChar char="■"/>
              <a:defRPr sz="23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1828800" marR="0" lvl="3" indent="-323850" algn="l" rtl="0"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Noto Sans Symbols"/>
              <a:buChar char="■"/>
              <a:defRPr sz="20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2286000" marR="0" lvl="4" indent="-311150" algn="l" rtl="0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/>
          <p:nvPr/>
        </p:nvSpPr>
        <p:spPr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5" name="Google Shape;15;p6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6" name="Google Shape;16;p6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7" name="Google Shape;17;p6"/>
          <p:cNvSpPr txBox="1">
            <a:spLocks noGrp="1"/>
          </p:cNvSpPr>
          <p:nvPr>
            <p:ph type="sldNum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marR="0" lvl="0" indent="0" algn="ctr" rtl="0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ctr" rtl="0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ctr" rtl="0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ctr" rtl="0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ctr" rtl="0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ctr" rtl="0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ctr" rtl="0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ctr" rtl="0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ctr" rtl="0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" name="Google Shape;18;p6" descr="C:\Users\vipin.tyagi\Desktop\footer-im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29600" y="228600"/>
            <a:ext cx="743185" cy="88526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  <a:defRPr sz="4400" b="0" i="0" u="none" strike="noStrike" cap="non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39090" algn="l" rtl="0"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ts val="1740"/>
              <a:buFont typeface="Noto Sans Symbols"/>
              <a:buChar char="◻"/>
              <a:defRPr sz="29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914400" marR="0" lvl="1" indent="-344170" algn="l" rtl="0">
              <a:spcBef>
                <a:spcPts val="550"/>
              </a:spcBef>
              <a:spcAft>
                <a:spcPts val="0"/>
              </a:spcAft>
              <a:buClr>
                <a:schemeClr val="accent1"/>
              </a:buClr>
              <a:buSzPts val="1820"/>
              <a:buFont typeface="Noto Sans Symbols"/>
              <a:buChar char="🞑"/>
              <a:defRPr sz="26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1371600" marR="0" lvl="2" indent="-338138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25"/>
              <a:buFont typeface="Noto Sans Symbols"/>
              <a:buChar char="■"/>
              <a:defRPr sz="23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1828800" marR="0" lvl="3" indent="-323850" algn="l" rtl="0"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2286000" marR="0" lvl="4" indent="-311150" algn="l" rtl="0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dt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ft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endParaRPr/>
          </a:p>
        </p:txBody>
      </p:sp>
      <p:sp>
        <p:nvSpPr>
          <p:cNvPr id="33" name="Google Shape;33;p5"/>
          <p:cNvSpPr/>
          <p:nvPr/>
        </p:nvSpPr>
        <p:spPr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marR="0" lvl="0" indent="0" algn="ctr" rtl="0">
              <a:spcBef>
                <a:spcPts val="0"/>
              </a:spcBef>
              <a:buNone/>
              <a:defRPr sz="1400" b="1" u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ctr" rtl="0">
              <a:spcBef>
                <a:spcPts val="0"/>
              </a:spcBef>
              <a:buNone/>
              <a:defRPr sz="1400" b="1" u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ctr" rtl="0">
              <a:spcBef>
                <a:spcPts val="0"/>
              </a:spcBef>
              <a:buNone/>
              <a:defRPr sz="1400" b="1" u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ctr" rtl="0">
              <a:spcBef>
                <a:spcPts val="0"/>
              </a:spcBef>
              <a:buNone/>
              <a:defRPr sz="1400" b="1" u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ctr" rtl="0">
              <a:spcBef>
                <a:spcPts val="0"/>
              </a:spcBef>
              <a:buNone/>
              <a:defRPr sz="1400" b="1" u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ctr" rtl="0">
              <a:spcBef>
                <a:spcPts val="0"/>
              </a:spcBef>
              <a:buNone/>
              <a:defRPr sz="1400" b="1" u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ctr" rtl="0">
              <a:spcBef>
                <a:spcPts val="0"/>
              </a:spcBef>
              <a:buNone/>
              <a:defRPr sz="1400" b="1" u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ctr" rtl="0">
              <a:spcBef>
                <a:spcPts val="0"/>
              </a:spcBef>
              <a:buNone/>
              <a:defRPr sz="1400" b="1" u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ctr" rtl="0">
              <a:spcBef>
                <a:spcPts val="0"/>
              </a:spcBef>
              <a:buNone/>
              <a:defRPr sz="1400" b="1" u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7" name="Google Shape;37;p5" descr="C:\Users\vipin.tyagi\Desktop\footer-img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229600" y="228600"/>
            <a:ext cx="743185" cy="88526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8" r:id="rId7"/>
    <p:sldLayoutId id="2147483659" r:id="rId8"/>
    <p:sldLayoutId id="2147483660" r:id="rId9"/>
    <p:sldLayoutId id="2147483661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"/>
          <p:cNvSpPr txBox="1">
            <a:spLocks noGrp="1"/>
          </p:cNvSpPr>
          <p:nvPr>
            <p:ph type="ctrTitle"/>
          </p:nvPr>
        </p:nvSpPr>
        <p:spPr>
          <a:xfrm>
            <a:off x="942975" y="1257300"/>
            <a:ext cx="76962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algn="ctr">
              <a:buSzPct val="100000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Time Object Detection Using YOLO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dirty="0"/>
          </a:p>
        </p:txBody>
      </p:sp>
      <p:sp>
        <p:nvSpPr>
          <p:cNvPr id="125" name="Google Shape;125;p1"/>
          <p:cNvSpPr txBox="1"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2000">
                <a:solidFill>
                  <a:schemeClr val="dk1"/>
                </a:solidFill>
              </a:rPr>
              <a:t>Jaypee University of Engineering &amp; Technology, Guna 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26" name="Google Shape;126;p1"/>
          <p:cNvSpPr txBox="1"/>
          <p:nvPr/>
        </p:nvSpPr>
        <p:spPr>
          <a:xfrm>
            <a:off x="1943100" y="1510800"/>
            <a:ext cx="5257800" cy="16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by: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Sourav Kumar </a:t>
            </a:r>
            <a:r>
              <a:rPr lang="en-US" sz="2000" i="0" u="none" strike="noStrike" cap="none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(</a:t>
            </a:r>
            <a:r>
              <a:rPr lang="en-US" sz="20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231b349</a:t>
            </a:r>
            <a:r>
              <a:rPr lang="en-US" sz="2000" i="0" u="none" strike="noStrike" cap="none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)</a:t>
            </a:r>
            <a:endParaRPr sz="1600"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0" u="none" strike="noStrike" cap="none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Garv Gang (</a:t>
            </a:r>
            <a:r>
              <a:rPr lang="en-US" sz="20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231b113</a:t>
            </a:r>
            <a:r>
              <a:rPr lang="en-US" sz="2000" i="0" u="none" strike="noStrike" cap="none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)</a:t>
            </a:r>
            <a:endParaRPr sz="1600"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0" u="none" strike="noStrike" cap="none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Tryambkesh Sharma (</a:t>
            </a:r>
            <a:r>
              <a:rPr lang="en-US" sz="20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231b366</a:t>
            </a:r>
            <a:r>
              <a:rPr lang="en-US" sz="2000" i="0" u="none" strike="noStrike" cap="none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)</a:t>
            </a:r>
            <a:endParaRPr sz="16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 dirty="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27" name="Google Shape;127;p1"/>
          <p:cNvSpPr txBox="1"/>
          <p:nvPr/>
        </p:nvSpPr>
        <p:spPr>
          <a:xfrm>
            <a:off x="2286000" y="3034302"/>
            <a:ext cx="4572000" cy="1031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Under the supervision of: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Dr. </a:t>
            </a:r>
            <a:r>
              <a:rPr kumimoji="0" lang="en-I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Animesh Kumar Dubey</a:t>
            </a:r>
            <a:endParaRPr sz="2400" b="1" dirty="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128" name="Google Shape;128;p1" descr="C:\Users\vipin.tyagi\Desktop\footer-im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14800" y="4343400"/>
            <a:ext cx="1041400" cy="12404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65D56-B44D-6D10-6BE1-01E0A626E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Introduction: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F2B2A2-E4C7-9A70-F34D-491ECADD08B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9924DB-CFBE-CE3A-A602-9291E16F0188}"/>
              </a:ext>
            </a:extLst>
          </p:cNvPr>
          <p:cNvSpPr txBox="1"/>
          <p:nvPr/>
        </p:nvSpPr>
        <p:spPr>
          <a:xfrm>
            <a:off x="371474" y="3228975"/>
            <a:ext cx="7743825" cy="2633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Object Detection :-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multiple objects in images and live video streams accurately.</a:t>
            </a:r>
          </a:p>
          <a:p>
            <a:pPr algn="just"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Object Counting :-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 the total number of detected objects in each frame.</a:t>
            </a:r>
          </a:p>
          <a:p>
            <a:pPr algn="just"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Object Localization :-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exact position of objects using bounding boxes and coordinates.</a:t>
            </a:r>
          </a:p>
          <a:p>
            <a:pPr algn="just"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Motion Analysis :-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object movement across consecutive frames in a video.</a:t>
            </a:r>
          </a:p>
          <a:p>
            <a:pPr algn="just"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Object Identity Tracking :-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individual objects over time and assign unique IDs to maintain identity.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75CFB9-1D2B-2A85-5AE0-FE2E52BE7CCE}"/>
              </a:ext>
            </a:extLst>
          </p:cNvPr>
          <p:cNvSpPr txBox="1"/>
          <p:nvPr/>
        </p:nvSpPr>
        <p:spPr>
          <a:xfrm>
            <a:off x="371474" y="2122849"/>
            <a:ext cx="8391526" cy="87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objective of this project is to develop an intelligent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object  detection using YOLO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capable of performing the following tasks:</a:t>
            </a:r>
          </a:p>
        </p:txBody>
      </p:sp>
    </p:spTree>
    <p:extLst>
      <p:ext uri="{BB962C8B-B14F-4D97-AF65-F5344CB8AC3E}">
        <p14:creationId xmlns:p14="http://schemas.microsoft.com/office/powerpoint/2010/main" val="3483211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BECFA-D792-1AB3-F9F4-8D5EC1FBF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Problem Statement :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36F6B2-58DB-ED2B-1220-1FB48A8D0F3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2D8111-BD76-4A15-529C-CB066B246CFD}"/>
              </a:ext>
            </a:extLst>
          </p:cNvPr>
          <p:cNvSpPr txBox="1"/>
          <p:nvPr/>
        </p:nvSpPr>
        <p:spPr>
          <a:xfrm>
            <a:off x="200025" y="2295525"/>
            <a:ext cx="8562975" cy="39568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Limitations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Many models are too heavy and cannot run efficiently on  CPU systems. </a:t>
            </a:r>
          </a:p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Integration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Existing systems often perform only detection without tracking or analysis. </a:t>
            </a:r>
          </a:p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Vehicle Counting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No mechanism to automatically count vehicles in traffic scenes. </a:t>
            </a:r>
          </a:p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Motion Analysis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Speed estimation and movement tracking are generally not included. </a:t>
            </a:r>
          </a:p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Inefficient Traffic Monitoring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Systems do not provide a complete analysis pipeline for real-world use.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1950E5-A5B8-5EDC-1114-4207C30DABA7}"/>
              </a:ext>
            </a:extLst>
          </p:cNvPr>
          <p:cNvSpPr txBox="1"/>
          <p:nvPr/>
        </p:nvSpPr>
        <p:spPr>
          <a:xfrm>
            <a:off x="609600" y="1752163"/>
            <a:ext cx="6562725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are the key limitations of existing systems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44309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"/>
          <p:cNvSpPr txBox="1">
            <a:spLocks noGrp="1"/>
          </p:cNvSpPr>
          <p:nvPr>
            <p:ph type="title"/>
          </p:nvPr>
        </p:nvSpPr>
        <p:spPr>
          <a:xfrm>
            <a:off x="200025" y="2667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wentieth Century"/>
              <a:buNone/>
            </a:pPr>
            <a:r>
              <a:rPr lang="en-US" b="1" dirty="0"/>
              <a:t>Literature Review:</a:t>
            </a:r>
            <a:endParaRPr b="1" dirty="0"/>
          </a:p>
        </p:txBody>
      </p:sp>
      <p:sp>
        <p:nvSpPr>
          <p:cNvPr id="150" name="Google Shape;150;p3"/>
          <p:cNvSpPr txBox="1">
            <a:spLocks noGrp="1"/>
          </p:cNvSpPr>
          <p:nvPr>
            <p:ph type="body" idx="1"/>
          </p:nvPr>
        </p:nvSpPr>
        <p:spPr>
          <a:xfrm>
            <a:off x="200025" y="2283482"/>
            <a:ext cx="4076700" cy="2695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>
              <a:lnSpc>
                <a:spcPct val="150000"/>
              </a:lnSpc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Sliding Window Approach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Scans the image using fixed-size windows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Classifies each region separately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slow and computationally expensive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Inefficient for large images</a:t>
            </a:r>
          </a:p>
          <a:p>
            <a:pPr marL="320040" lvl="0" indent="-209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40"/>
              <a:buNone/>
            </a:pPr>
            <a:endParaRPr dirty="0"/>
          </a:p>
        </p:txBody>
      </p:sp>
      <p:sp>
        <p:nvSpPr>
          <p:cNvPr id="151" name="Google Shape;151;p3"/>
          <p:cNvSpPr txBox="1">
            <a:spLocks noGrp="1"/>
          </p:cNvSpPr>
          <p:nvPr>
            <p:ph type="sldNum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 dirty="0"/>
          </a:p>
        </p:txBody>
      </p:sp>
      <p:sp>
        <p:nvSpPr>
          <p:cNvPr id="152" name="Google Shape;152;p3"/>
          <p:cNvSpPr txBox="1">
            <a:spLocks noGrp="1"/>
          </p:cNvSpPr>
          <p:nvPr>
            <p:ph type="ft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.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886DB4-8BB8-B22F-7BAF-27565D072FDF}"/>
              </a:ext>
            </a:extLst>
          </p:cNvPr>
          <p:cNvSpPr txBox="1"/>
          <p:nvPr/>
        </p:nvSpPr>
        <p:spPr>
          <a:xfrm>
            <a:off x="366712" y="175686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Evolution of Object Detection Techniques </a:t>
            </a:r>
            <a:r>
              <a:rPr lang="en-I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C6B484-9D3C-2171-3C41-61FFFDBC6C52}"/>
              </a:ext>
            </a:extLst>
          </p:cNvPr>
          <p:cNvSpPr txBox="1"/>
          <p:nvPr/>
        </p:nvSpPr>
        <p:spPr>
          <a:xfrm>
            <a:off x="4424363" y="2499230"/>
            <a:ext cx="4595812" cy="2264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R-CNN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Introduced region proposals instead of scanning image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CNN for feature extraction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accuracy significantly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Still slow due to multi-stage pipeline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2B2A19-DC4B-5473-AF5D-4A5DF5CB2D1A}"/>
              </a:ext>
            </a:extLst>
          </p:cNvPr>
          <p:cNvSpPr txBox="1"/>
          <p:nvPr/>
        </p:nvSpPr>
        <p:spPr>
          <a:xfrm>
            <a:off x="342900" y="4984907"/>
            <a:ext cx="4005262" cy="1525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Fast R-CNN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repeated CNN computations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ROI Pooling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than R-CNN</a:t>
            </a:r>
            <a:endParaRPr lang="en-IN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1649F2-D5A8-D764-9AD1-141F29ECF20C}"/>
              </a:ext>
            </a:extLst>
          </p:cNvPr>
          <p:cNvSpPr txBox="1"/>
          <p:nvPr/>
        </p:nvSpPr>
        <p:spPr>
          <a:xfrm>
            <a:off x="4419600" y="4885624"/>
            <a:ext cx="4795837" cy="1894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YOLO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Single-stage detector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 entire image in one pass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performance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and optimized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83162-BA3B-CD12-3B47-DB16620C4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Analysis of Existing Work: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A39D85-ACD5-5166-73AD-69E3765B507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EF6301-B27C-A7FE-438D-D5AAC7B7FD4A}"/>
              </a:ext>
            </a:extLst>
          </p:cNvPr>
          <p:cNvSpPr txBox="1"/>
          <p:nvPr/>
        </p:nvSpPr>
        <p:spPr>
          <a:xfrm>
            <a:off x="198162" y="1824488"/>
            <a:ext cx="4572000" cy="4449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Detection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Fast inference using YOLO 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Accuracy-Speed Trade-off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Balance between speed and precision 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Tracking Capability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Maintains object identity 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Advantage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Better accuracy than traditional methods 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Importance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Improves model generalization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22A5F6-3BF6-14A1-8BF7-97E1E017C012}"/>
              </a:ext>
            </a:extLst>
          </p:cNvPr>
          <p:cNvSpPr txBox="1"/>
          <p:nvPr/>
        </p:nvSpPr>
        <p:spPr>
          <a:xfrm>
            <a:off x="4770162" y="1789756"/>
            <a:ext cx="4572000" cy="4449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Computation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Requires powerful hardware 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Integration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Detection-only systems 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Complete Pipeline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Missing tracking and analysis 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 Real-Time Performance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Not suitable for live systems 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Constraints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Difficult real-world implementation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1AF7B1-204B-1552-8FB6-68D72D1B8561}"/>
              </a:ext>
            </a:extLst>
          </p:cNvPr>
          <p:cNvCxnSpPr>
            <a:cxnSpLocks/>
          </p:cNvCxnSpPr>
          <p:nvPr/>
        </p:nvCxnSpPr>
        <p:spPr>
          <a:xfrm>
            <a:off x="4682573" y="1789756"/>
            <a:ext cx="0" cy="49473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55922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D65F4-9752-E0CD-D59C-8745AF432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16C66-A397-4AD5-98B3-6EB5866CF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Individual Contribution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C6EB38-006C-AC40-5AF4-C400E1A9758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94F1CB5-2574-1AD9-C19B-81FD29F91D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5225801"/>
              </p:ext>
            </p:extLst>
          </p:nvPr>
        </p:nvGraphicFramePr>
        <p:xfrm>
          <a:off x="266700" y="1932747"/>
          <a:ext cx="8153400" cy="37727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717800">
                  <a:extLst>
                    <a:ext uri="{9D8B030D-6E8A-4147-A177-3AD203B41FA5}">
                      <a16:colId xmlns:a16="http://schemas.microsoft.com/office/drawing/2014/main" val="3553182448"/>
                    </a:ext>
                  </a:extLst>
                </a:gridCol>
                <a:gridCol w="2717800">
                  <a:extLst>
                    <a:ext uri="{9D8B030D-6E8A-4147-A177-3AD203B41FA5}">
                      <a16:colId xmlns:a16="http://schemas.microsoft.com/office/drawing/2014/main" val="1807043806"/>
                    </a:ext>
                  </a:extLst>
                </a:gridCol>
                <a:gridCol w="2717800">
                  <a:extLst>
                    <a:ext uri="{9D8B030D-6E8A-4147-A177-3AD203B41FA5}">
                      <a16:colId xmlns:a16="http://schemas.microsoft.com/office/drawing/2014/main" val="1977910225"/>
                    </a:ext>
                  </a:extLst>
                </a:gridCol>
              </a:tblGrid>
              <a:tr h="9431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Member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Enrollment 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Contribution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4190740"/>
                  </a:ext>
                </a:extLst>
              </a:tr>
              <a:tr h="9431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Sourav Kumar 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231B349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Coding ,Dataset, System Design, Implement the system design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9160319"/>
                  </a:ext>
                </a:extLst>
              </a:tr>
              <a:tr h="9431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Garv Gang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231B113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Coding , Dataset, Design the model </a:t>
                      </a:r>
                      <a:r>
                        <a:rPr lang="en-US"/>
                        <a:t>and it  architecture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7203176"/>
                  </a:ext>
                </a:extLst>
              </a:tr>
              <a:tr h="9431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Tryambkesh Sharma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231B366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Coding, design the model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47316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60939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1DBAB-F35F-9D2C-A5F9-A2AC39218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E3607-4910-F599-9CCB-345A429A8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Week Plan: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B7ADAFF-6BB9-4FDB-8E06-C3A3D2980C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D3A7537-6460-47A5-C6EE-5E82ED2BF7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6736387"/>
              </p:ext>
            </p:extLst>
          </p:nvPr>
        </p:nvGraphicFramePr>
        <p:xfrm>
          <a:off x="152401" y="1633176"/>
          <a:ext cx="8515350" cy="497461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72450">
                  <a:extLst>
                    <a:ext uri="{9D8B030D-6E8A-4147-A177-3AD203B41FA5}">
                      <a16:colId xmlns:a16="http://schemas.microsoft.com/office/drawing/2014/main" val="1138746680"/>
                    </a:ext>
                  </a:extLst>
                </a:gridCol>
                <a:gridCol w="6102946">
                  <a:extLst>
                    <a:ext uri="{9D8B030D-6E8A-4147-A177-3AD203B41FA5}">
                      <a16:colId xmlns:a16="http://schemas.microsoft.com/office/drawing/2014/main" val="1305740722"/>
                    </a:ext>
                  </a:extLst>
                </a:gridCol>
                <a:gridCol w="1339954">
                  <a:extLst>
                    <a:ext uri="{9D8B030D-6E8A-4147-A177-3AD203B41FA5}">
                      <a16:colId xmlns:a16="http://schemas.microsoft.com/office/drawing/2014/main" val="3053710439"/>
                    </a:ext>
                  </a:extLst>
                </a:gridCol>
              </a:tblGrid>
              <a:tr h="2596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Week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Work Done</a:t>
                      </a:r>
                      <a:endParaRPr lang="en-IN" sz="16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Status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083" marR="43083" marT="21541" marB="21541" anchor="ctr"/>
                </a:tc>
                <a:extLst>
                  <a:ext uri="{0D108BD9-81ED-4DB2-BD59-A6C34878D82A}">
                    <a16:rowId xmlns:a16="http://schemas.microsoft.com/office/drawing/2014/main" val="2074305658"/>
                  </a:ext>
                </a:extLst>
              </a:tr>
              <a:tr h="3095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Week 1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Literature review on real-time object detection and YOLO basics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Completed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083" marR="43083" marT="21541" marB="21541" anchor="ctr"/>
                </a:tc>
                <a:extLst>
                  <a:ext uri="{0D108BD9-81ED-4DB2-BD59-A6C34878D82A}">
                    <a16:rowId xmlns:a16="http://schemas.microsoft.com/office/drawing/2014/main" val="1124132896"/>
                  </a:ext>
                </a:extLst>
              </a:tr>
              <a:tr h="3095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Week 2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Studied YOLO algorithm, object localization, and datasets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Completed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083" marR="43083" marT="21541" marB="21541" anchor="ctr"/>
                </a:tc>
                <a:extLst>
                  <a:ext uri="{0D108BD9-81ED-4DB2-BD59-A6C34878D82A}">
                    <a16:rowId xmlns:a16="http://schemas.microsoft.com/office/drawing/2014/main" val="2181598545"/>
                  </a:ext>
                </a:extLst>
              </a:tr>
              <a:tr h="3095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Week 3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Implemented YOLO on sample video and analyzed FPS issues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Completed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083" marR="43083" marT="21541" marB="21541" anchor="ctr"/>
                </a:tc>
                <a:extLst>
                  <a:ext uri="{0D108BD9-81ED-4DB2-BD59-A6C34878D82A}">
                    <a16:rowId xmlns:a16="http://schemas.microsoft.com/office/drawing/2014/main" val="2916168995"/>
                  </a:ext>
                </a:extLst>
              </a:tr>
              <a:tr h="3095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Week 4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Learned object tracking and object counting from traffic video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Completed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083" marR="43083" marT="21541" marB="21541" anchor="ctr"/>
                </a:tc>
                <a:extLst>
                  <a:ext uri="{0D108BD9-81ED-4DB2-BD59-A6C34878D82A}">
                    <a16:rowId xmlns:a16="http://schemas.microsoft.com/office/drawing/2014/main" val="3655379290"/>
                  </a:ext>
                </a:extLst>
              </a:tr>
              <a:tr h="3095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Week 5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Studied YOLO architecture and research papers in detail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Completed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083" marR="43083" marT="21541" marB="21541" anchor="ctr"/>
                </a:tc>
                <a:extLst>
                  <a:ext uri="{0D108BD9-81ED-4DB2-BD59-A6C34878D82A}">
                    <a16:rowId xmlns:a16="http://schemas.microsoft.com/office/drawing/2014/main" val="1842986627"/>
                  </a:ext>
                </a:extLst>
              </a:tr>
              <a:tr h="3095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Week 6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Studied performance metrics and discussed dataset-related issues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In Progress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083" marR="43083" marT="21541" marB="21541" anchor="ctr"/>
                </a:tc>
                <a:extLst>
                  <a:ext uri="{0D108BD9-81ED-4DB2-BD59-A6C34878D82A}">
                    <a16:rowId xmlns:a16="http://schemas.microsoft.com/office/drawing/2014/main" val="3731954036"/>
                  </a:ext>
                </a:extLst>
              </a:tr>
              <a:tr h="4803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Week 7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Application-specific performance metric analysis and understood difference between YOLO versions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Pending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083" marR="43083" marT="21541" marB="21541" anchor="ctr"/>
                </a:tc>
                <a:extLst>
                  <a:ext uri="{0D108BD9-81ED-4DB2-BD59-A6C34878D82A}">
                    <a16:rowId xmlns:a16="http://schemas.microsoft.com/office/drawing/2014/main" val="2362866502"/>
                  </a:ext>
                </a:extLst>
              </a:tr>
              <a:tr h="3095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Week 8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Reviewed recent research papers related to project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Completed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083" marR="43083" marT="21541" marB="21541" anchor="ctr"/>
                </a:tc>
                <a:extLst>
                  <a:ext uri="{0D108BD9-81ED-4DB2-BD59-A6C34878D82A}">
                    <a16:rowId xmlns:a16="http://schemas.microsoft.com/office/drawing/2014/main" val="4056409315"/>
                  </a:ext>
                </a:extLst>
              </a:tr>
              <a:tr h="4803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Week 9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Dataset exploration and reduction (1 lakh → 10k → 2k → ~700 images finalized)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Completed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083" marR="43083" marT="21541" marB="21541" anchor="ctr"/>
                </a:tc>
                <a:extLst>
                  <a:ext uri="{0D108BD9-81ED-4DB2-BD59-A6C34878D82A}">
                    <a16:rowId xmlns:a16="http://schemas.microsoft.com/office/drawing/2014/main" val="3424358917"/>
                  </a:ext>
                </a:extLst>
              </a:tr>
              <a:tr h="3095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Week 10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Initial implementation and model testing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Completed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083" marR="43083" marT="21541" marB="21541" anchor="ctr"/>
                </a:tc>
                <a:extLst>
                  <a:ext uri="{0D108BD9-81ED-4DB2-BD59-A6C34878D82A}">
                    <a16:rowId xmlns:a16="http://schemas.microsoft.com/office/drawing/2014/main" val="3537768797"/>
                  </a:ext>
                </a:extLst>
              </a:tr>
              <a:tr h="3095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Week 11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Finalized dataset and evaluated performance metrics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Completed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083" marR="43083" marT="21541" marB="21541" anchor="ctr"/>
                </a:tc>
                <a:extLst>
                  <a:ext uri="{0D108BD9-81ED-4DB2-BD59-A6C34878D82A}">
                    <a16:rowId xmlns:a16="http://schemas.microsoft.com/office/drawing/2014/main" val="2335348974"/>
                  </a:ext>
                </a:extLst>
              </a:tr>
              <a:tr h="4803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Week 12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Improved accuracy, analyzed performance, generated graphs, obtained final outputs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Completed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083" marR="43083" marT="21541" marB="21541" anchor="ctr"/>
                </a:tc>
                <a:extLst>
                  <a:ext uri="{0D108BD9-81ED-4DB2-BD59-A6C34878D82A}">
                    <a16:rowId xmlns:a16="http://schemas.microsoft.com/office/drawing/2014/main" val="3716610620"/>
                  </a:ext>
                </a:extLst>
              </a:tr>
              <a:tr h="3095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Week 13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Prepared final report, optimized results, and created PPT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Completed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083" marR="43083" marT="21541" marB="21541" anchor="ctr"/>
                </a:tc>
                <a:extLst>
                  <a:ext uri="{0D108BD9-81ED-4DB2-BD59-A6C34878D82A}">
                    <a16:rowId xmlns:a16="http://schemas.microsoft.com/office/drawing/2014/main" val="10181831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95223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C2393-454B-E502-7235-3EAE80BCA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2F822-F362-3856-C805-D271D58BE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Dataset Details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16811AE-EC63-5367-A91C-99B6B21256F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012C2D-15CE-5186-0390-2227DB53C4C5}"/>
              </a:ext>
            </a:extLst>
          </p:cNvPr>
          <p:cNvSpPr txBox="1"/>
          <p:nvPr/>
        </p:nvSpPr>
        <p:spPr>
          <a:xfrm>
            <a:off x="266700" y="1781491"/>
            <a:ext cx="4105275" cy="4110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Details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BDD100K traffic dataset (custom subset)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Size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700 images used for training and testing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Split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490 train, 140 validation, 70 test images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Type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Traffic scene images with annotated objects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Annotation Format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YOLO format (bounding box labels)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B58D63-E4BA-24CC-41F6-02861E2B1DA8}"/>
              </a:ext>
            </a:extLst>
          </p:cNvPr>
          <p:cNvSpPr txBox="1"/>
          <p:nvPr/>
        </p:nvSpPr>
        <p:spPr>
          <a:xfrm>
            <a:off x="4572000" y="1781491"/>
            <a:ext cx="4572000" cy="3464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Configuration (YAML File)</a:t>
            </a: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YAML Structure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Defines dataset paths and classes </a:t>
            </a: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Path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Path to training images </a:t>
            </a: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Path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Path to validation images </a:t>
            </a: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Path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Path to test images </a:t>
            </a: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Classes (names)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List of object categories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9393426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F17BA-268F-217F-9AFD-A56064E65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0CCDB-5F8A-7C34-C470-296D27858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Proposed Methodology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663ED1-624F-E46C-18BE-0BD2F64355A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01D3AE-6853-5E09-B6C4-C50652DAD9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24" y="1714500"/>
            <a:ext cx="8305801" cy="491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0371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68654-E82A-5AD3-4258-8C94B97BB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2EA79-C6AA-AF06-4B3C-8247C2106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Mathematical Formulation: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49E35B-7C95-34D7-38C2-01EA9A4BC27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04C86E6-B878-F2A8-992F-B02D04DDA52C}"/>
                  </a:ext>
                </a:extLst>
              </p:cNvPr>
              <p:cNvSpPr txBox="1"/>
              <p:nvPr/>
            </p:nvSpPr>
            <p:spPr>
              <a:xfrm>
                <a:off x="0" y="1516698"/>
                <a:ext cx="4535895" cy="50913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AutoNum type="arabicParenR"/>
                </a:pP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Bounding Box Prediction (YOLO)</a:t>
                </a:r>
                <a:b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Each detection is </a:t>
                </a:r>
                <a:b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represented as: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          B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𝒉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ar-AE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ar-AE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,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ar-A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IN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center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box </a:t>
                </a:r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width and height </a:t>
                </a:r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confidence score </a:t>
                </a:r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2) Intersection over Union (IoU)</a:t>
                </a:r>
                <a:b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Used to evaluate overlap between predicted and ground-truth boxes:		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</a:rPr>
                      <m:t>𝑰𝒐𝑼</m:t>
                    </m:r>
                    <m:r>
                      <a:rPr lang="en-IN" b="1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b="1" i="1">
                            <a:latin typeface="Cambria Math" panose="02040503050406030204" pitchFamily="18" charset="0"/>
                          </a:rPr>
                          <m:t>𝑨𝒓𝒆𝒂</m:t>
                        </m:r>
                        <m:r>
                          <m:rPr>
                            <m:nor/>
                          </m:rPr>
                          <a:rPr lang="ar-AE" b="1" i="1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ar-AE" b="1" i="1">
                            <a:latin typeface="Cambria Math" panose="02040503050406030204" pitchFamily="18" charset="0"/>
                          </a:rPr>
                          <m:t>𝒐𝒇</m:t>
                        </m:r>
                        <m:r>
                          <m:rPr>
                            <m:nor/>
                          </m:rPr>
                          <a:rPr lang="ar-AE" b="1" i="1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ar-AE" b="1" i="1">
                            <a:latin typeface="Cambria Math" panose="02040503050406030204" pitchFamily="18" charset="0"/>
                          </a:rPr>
                          <m:t>𝑶𝒗𝒆𝒓𝒍𝒂𝒑</m:t>
                        </m:r>
                      </m:num>
                      <m:den>
                        <m:r>
                          <a:rPr lang="ar-AE" b="1" i="1">
                            <a:latin typeface="Cambria Math" panose="02040503050406030204" pitchFamily="18" charset="0"/>
                          </a:rPr>
                          <m:t>𝑨𝒓𝒆𝒂</m:t>
                        </m:r>
                        <m:r>
                          <m:rPr>
                            <m:nor/>
                          </m:rPr>
                          <a:rPr lang="ar-AE" b="1" i="1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ar-AE" b="1" i="1">
                            <a:latin typeface="Cambria Math" panose="02040503050406030204" pitchFamily="18" charset="0"/>
                          </a:rPr>
                          <m:t>𝒐𝒇</m:t>
                        </m:r>
                        <m:r>
                          <m:rPr>
                            <m:nor/>
                          </m:rPr>
                          <a:rPr lang="ar-AE" b="1" i="1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ar-AE" b="1" i="1">
                            <a:latin typeface="Cambria Math" panose="02040503050406030204" pitchFamily="18" charset="0"/>
                          </a:rPr>
                          <m:t>𝑼𝒏𝒊𝒐𝒏</m:t>
                        </m:r>
                      </m:den>
                    </m:f>
                  </m:oMath>
                </a14:m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3) Tracking (ByteTrack –</a:t>
                </a: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Match detections between consecutive frames based on IoU and confidence. </a:t>
                </a:r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Assign persistent IDs to matched objects. </a:t>
                </a:r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Update tracks for unmatched detections using motion consistency.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04C86E6-B878-F2A8-992F-B02D04DDA5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516698"/>
                <a:ext cx="4535895" cy="5091394"/>
              </a:xfrm>
              <a:prstGeom prst="rect">
                <a:avLst/>
              </a:prstGeom>
              <a:blipFill>
                <a:blip r:embed="rId2"/>
                <a:stretch>
                  <a:fillRect l="-403" r="-1344" b="-24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51101FC-5192-86A6-91F6-2976CA1F0F46}"/>
                  </a:ext>
                </a:extLst>
              </p:cNvPr>
              <p:cNvSpPr txBox="1"/>
              <p:nvPr/>
            </p:nvSpPr>
            <p:spPr>
              <a:xfrm>
                <a:off x="4935969" y="1522793"/>
                <a:ext cx="3827031" cy="4393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None/>
                </a:pP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4) Vehicle Counting (Line-Crossing Logic)</a:t>
                </a: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Define two horizontal lines (red and blue). </a:t>
                </a:r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each tracked object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store previous position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current position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ar-A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Increment counters when an object crosses from one line region to the other: 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Downward: red → blue 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Upward: blue → red </a:t>
                </a:r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5) Evaluation Metrics</a:t>
                </a: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𝑃𝑟𝑒𝑐𝑖𝑠𝑖𝑜𝑛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𝐹𝑃</m:t>
                          </m:r>
                        </m:den>
                      </m:f>
                      <m:r>
                        <a:rPr lang="ar-AE" i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𝑅𝑒𝑐𝑎𝑙𝑙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</m:oMath>
                  </m:oMathPara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i="1">
                          <a:latin typeface="Cambria Math" panose="02040503050406030204" pitchFamily="18" charset="0"/>
                        </a:rPr>
                        <m:t>𝑚𝐴𝑃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grow m:val="on"/>
                          <m:subHide m:val="on"/>
                          <m:supHide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nary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𝐴𝑐𝑐𝑢𝑟𝑎𝑐𝑦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𝑚𝐴𝑃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@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51101FC-5192-86A6-91F6-2976CA1F0F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5969" y="1522793"/>
                <a:ext cx="3827031" cy="4393832"/>
              </a:xfrm>
              <a:prstGeom prst="rect">
                <a:avLst/>
              </a:prstGeom>
              <a:blipFill>
                <a:blip r:embed="rId3"/>
                <a:stretch>
                  <a:fillRect l="-4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1F7F70C-5DA1-65FA-EDE1-17D4680A46DD}"/>
              </a:ext>
            </a:extLst>
          </p:cNvPr>
          <p:cNvCxnSpPr>
            <a:cxnSpLocks/>
          </p:cNvCxnSpPr>
          <p:nvPr/>
        </p:nvCxnSpPr>
        <p:spPr>
          <a:xfrm>
            <a:off x="4686300" y="1623453"/>
            <a:ext cx="0" cy="487788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02894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4880D-7B6D-67E4-FB3A-32325DB73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Result Analysis 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650E8D-D599-E30D-EDA7-9D6746B500C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255CB3-CB1C-C64B-8BDC-F6BCBB2F1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1" y="1520442"/>
            <a:ext cx="6513302" cy="495655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F0B9B37-8C37-8D0B-0B09-92E6FDA2DF0C}"/>
              </a:ext>
            </a:extLst>
          </p:cNvPr>
          <p:cNvSpPr txBox="1"/>
          <p:nvPr/>
        </p:nvSpPr>
        <p:spPr>
          <a:xfrm>
            <a:off x="6754228" y="2070585"/>
            <a:ext cx="3821228" cy="1992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Metrics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 	: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78.68% 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 	: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73.36%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mAP@0.5 	: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82.27%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mAP@0.5:0.95     :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69.67%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  : 82.27%</a:t>
            </a:r>
          </a:p>
        </p:txBody>
      </p:sp>
    </p:spTree>
    <p:extLst>
      <p:ext uri="{BB962C8B-B14F-4D97-AF65-F5344CB8AC3E}">
        <p14:creationId xmlns:p14="http://schemas.microsoft.com/office/powerpoint/2010/main" val="6473149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0B660-616B-9FD3-E6A7-BD8A13EB1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Conclusion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F91A05-9EC2-0A46-D407-BA372698500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2FDCFC-9A97-B4EB-CF4F-D07897D9AB7B}"/>
              </a:ext>
            </a:extLst>
          </p:cNvPr>
          <p:cNvSpPr txBox="1"/>
          <p:nvPr/>
        </p:nvSpPr>
        <p:spPr>
          <a:xfrm>
            <a:off x="95250" y="3221267"/>
            <a:ext cx="8153399" cy="2971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Detection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YOLO11 detects vehicles and pedestrians effectively </a:t>
            </a: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Tracking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ByteTrack maintains consistent object IDs </a:t>
            </a: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 Counting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Line-crossing method provides reliable counts </a:t>
            </a: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Speed Estimation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Calculates motion using pixel displacement </a:t>
            </a: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Performance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Runs efficiently on CPU-based systems </a:t>
            </a: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System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Combines detection, tracking, and analysis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A7CAB9-9F7A-4AEB-169B-5D0B844EC0F1}"/>
              </a:ext>
            </a:extLst>
          </p:cNvPr>
          <p:cNvSpPr txBox="1"/>
          <p:nvPr/>
        </p:nvSpPr>
        <p:spPr>
          <a:xfrm>
            <a:off x="190500" y="1516698"/>
            <a:ext cx="8772525" cy="1704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successfully demonstrates the application of deep learning for real-time traffic analysis. By integrating object detection, tracking, vehicle counting, and speed estimation, the system provides a complete and efficient solution for traffic monitoring using a YOLO11-based approach.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34817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3107E-B710-63A0-27BF-DAD6ECA38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References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CEBCFC-CDD1-FE6B-210D-F9A276254A1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163A83-221E-D15C-3C7B-425213DEF3F7}"/>
              </a:ext>
            </a:extLst>
          </p:cNvPr>
          <p:cNvSpPr txBox="1"/>
          <p:nvPr/>
        </p:nvSpPr>
        <p:spPr>
          <a:xfrm>
            <a:off x="0" y="1689705"/>
            <a:ext cx="8991600" cy="5414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IN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[1] C.-Y. Wang, I.-H. Yeh and H.-Y. M. Liao, “YOLOv9: Learning What You Want to Learn Using Programmable Gradient Information,” </a:t>
            </a:r>
            <a:r>
              <a:rPr lang="en-IN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arXiv</a:t>
            </a:r>
            <a:r>
              <a:rPr lang="en-IN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preprint arXiv:2402.13616, 2024. </a:t>
            </a:r>
          </a:p>
          <a:p>
            <a:pPr marL="0" marR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IN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[2] A. Wang, H. Chen, L. Liu, K. Chen, Z. Lin, J. Han and G. Ding, “YOLOv10: Real-Time End-to-End Object Detection,” </a:t>
            </a:r>
            <a:r>
              <a:rPr lang="en-IN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arXiv</a:t>
            </a:r>
            <a:r>
              <a:rPr lang="en-IN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preprint arXiv:2405.14458, 2024. </a:t>
            </a:r>
          </a:p>
          <a:p>
            <a:pPr marL="0" marR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IN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[3] R. Khanam and M. Hussain, “YOLOv11: An Overview of the Key Architectural Enhancements,” </a:t>
            </a:r>
            <a:r>
              <a:rPr lang="en-IN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arXiv</a:t>
            </a:r>
            <a:r>
              <a:rPr lang="en-IN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preprint arXiv:2410.17725, 2024. </a:t>
            </a:r>
          </a:p>
          <a:p>
            <a:pPr marL="0" marR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IN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[4] M. Yaseen, “What is YOLOv8: An In-Depth Exploration of the Internal Features of the Next-Generation Object Detector,” </a:t>
            </a:r>
            <a:r>
              <a:rPr lang="en-IN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arXiv</a:t>
            </a:r>
            <a:r>
              <a:rPr lang="en-IN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preprint arXiv:2408.15857, 2024.</a:t>
            </a:r>
          </a:p>
          <a:p>
            <a:pPr marL="0" marR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IN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[5] Y. Zhang, C. Wang, X. Wang, W. Zeng and W. Liu, “</a:t>
            </a:r>
            <a:r>
              <a:rPr lang="en-IN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FairMOT</a:t>
            </a:r>
            <a:r>
              <a:rPr lang="en-IN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On the Fairness of Detection and Re-Identification in Multiple Object Tracking,” </a:t>
            </a:r>
            <a:r>
              <a:rPr lang="en-IN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International Journal of Computer Vision</a:t>
            </a:r>
            <a:r>
              <a:rPr lang="en-IN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2021.</a:t>
            </a:r>
          </a:p>
          <a:p>
            <a:pPr algn="just">
              <a:lnSpc>
                <a:spcPct val="150000"/>
              </a:lnSpc>
            </a:pPr>
            <a:r>
              <a:rPr lang="en-IN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[6] P. Liao, F. Yang, D. Wu, B. Liu, X. Zhang and S. Zhou, “Enhanced Multi-Object Tracking: Inferring Motion States of Tracked Objects,” </a:t>
            </a:r>
            <a:r>
              <a:rPr lang="en-IN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ACM Trans. Multimedia Computing</a:t>
            </a:r>
            <a:r>
              <a:rPr lang="en-IN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2022.</a:t>
            </a:r>
          </a:p>
          <a:p>
            <a:pPr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M.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Kundurthi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T. Gurunathan, M. A. Khan, M. S. Raza and A. Gangopadhyay, “Real-Time Object Tracking on the Edge,”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Proc. IEEE Edge Computing Conf.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2022.</a:t>
            </a:r>
          </a:p>
          <a:p>
            <a:pPr algn="just">
              <a:lnSpc>
                <a:spcPct val="150000"/>
              </a:lnSpc>
            </a:pPr>
            <a:endParaRPr lang="en-IN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50942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4"/>
          <p:cNvSpPr txBox="1">
            <a:spLocks noGrp="1"/>
          </p:cNvSpPr>
          <p:nvPr>
            <p:ph type="body" idx="1"/>
          </p:nvPr>
        </p:nvSpPr>
        <p:spPr>
          <a:xfrm>
            <a:off x="990600" y="3352800"/>
            <a:ext cx="7123113" cy="1673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3240"/>
              <a:buNone/>
            </a:pPr>
            <a:r>
              <a:rPr lang="en-US" sz="5400">
                <a:solidFill>
                  <a:schemeClr val="dk1"/>
                </a:solidFill>
              </a:rPr>
              <a:t>Thank You</a:t>
            </a:r>
            <a:endParaRPr sz="5400">
              <a:solidFill>
                <a:schemeClr val="dk1"/>
              </a:solidFill>
            </a:endParaRPr>
          </a:p>
        </p:txBody>
      </p:sp>
      <p:sp>
        <p:nvSpPr>
          <p:cNvPr id="206" name="Google Shape;206;p4"/>
          <p:cNvSpPr txBox="1"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Twentieth Century"/>
              <a:buNone/>
            </a:pPr>
            <a:endParaRPr/>
          </a:p>
        </p:txBody>
      </p:sp>
      <p:pic>
        <p:nvPicPr>
          <p:cNvPr id="207" name="Google Shape;207;p4" descr="C:\Users\vipin.tyagi\Desktop\footer-im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57600" y="152400"/>
            <a:ext cx="1215437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4"/>
          <p:cNvSpPr txBox="1">
            <a:spLocks noGrp="1"/>
          </p:cNvSpPr>
          <p:nvPr>
            <p:ph type="sldNum" idx="12"/>
          </p:nvPr>
        </p:nvSpPr>
        <p:spPr>
          <a:xfrm>
            <a:off x="0" y="1752600"/>
            <a:ext cx="1295400" cy="701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209" name="Google Shape;209;p4"/>
          <p:cNvSpPr txBox="1">
            <a:spLocks noGrp="1"/>
          </p:cNvSpPr>
          <p:nvPr>
            <p:ph type="ft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dian">
  <a:themeElements>
    <a:clrScheme name="Median">
      <a:dk1>
        <a:srgbClr val="000000"/>
      </a:dk1>
      <a:lt1>
        <a:srgbClr val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edian">
  <a:themeElements>
    <a:clrScheme name="Median">
      <a:dk1>
        <a:srgbClr val="000000"/>
      </a:dk1>
      <a:lt1>
        <a:srgbClr val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1335</Words>
  <Application>Microsoft Office PowerPoint</Application>
  <PresentationFormat>On-screen Show (4:3)</PresentationFormat>
  <Paragraphs>184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Calibri</vt:lpstr>
      <vt:lpstr>Cambria Math</vt:lpstr>
      <vt:lpstr>Noto Sans Symbols</vt:lpstr>
      <vt:lpstr>Times New Roman</vt:lpstr>
      <vt:lpstr>Twentieth Century</vt:lpstr>
      <vt:lpstr>Median</vt:lpstr>
      <vt:lpstr>Median</vt:lpstr>
      <vt:lpstr>Real Time Object Detection Using YOLO </vt:lpstr>
      <vt:lpstr>Introduction:</vt:lpstr>
      <vt:lpstr>Problem Statement :</vt:lpstr>
      <vt:lpstr>Literature Review:</vt:lpstr>
      <vt:lpstr>Analysis of Existing Work:</vt:lpstr>
      <vt:lpstr>Individual Contribution</vt:lpstr>
      <vt:lpstr>Week Plan:</vt:lpstr>
      <vt:lpstr>Dataset Details</vt:lpstr>
      <vt:lpstr>Proposed Methodology</vt:lpstr>
      <vt:lpstr>Mathematical Formulation:</vt:lpstr>
      <vt:lpstr>Result Analysis </vt:lpstr>
      <vt:lpstr>Conclusion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vipin tyagi</dc:creator>
  <cp:lastModifiedBy>sourav kumar</cp:lastModifiedBy>
  <cp:revision>6</cp:revision>
  <dcterms:created xsi:type="dcterms:W3CDTF">2006-08-16T00:00:00Z</dcterms:created>
  <dcterms:modified xsi:type="dcterms:W3CDTF">2026-05-07T10:00:14Z</dcterms:modified>
</cp:coreProperties>
</file>