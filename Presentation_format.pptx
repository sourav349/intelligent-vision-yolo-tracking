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65" r:id="rId3"/>
    <p:sldId id="266" r:id="rId4"/>
    <p:sldId id="257" r:id="rId5"/>
    <p:sldId id="258" r:id="rId6"/>
    <p:sldId id="260" r:id="rId7"/>
    <p:sldId id="261" r:id="rId8"/>
    <p:sldId id="262" r:id="rId9"/>
    <p:sldId id="263" r:id="rId10"/>
    <p:sldId id="267" r:id="rId11"/>
    <p:sldId id="268" r:id="rId12"/>
    <p:sldId id="264" r:id="rId13"/>
    <p:sldId id="25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280" y="-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AAE40-EC51-40B7-BEE9-A309CD065EBB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65386-9BEA-4027-A533-701655781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65386-9BEA-4027-A533-701655781E7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31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B05FC8C-5F84-40FC-9DB3-36FAAD4852D4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3B58-94F3-49B3-A594-72F91CE4F73B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83B2-5A21-40A6-8CC9-AECD50B431A2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894BB91-8EDE-443C-934F-82BCDBE84739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402FC8E-0AD3-46CC-B4A8-9E21B2D784F3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778E-50AD-4331-9E18-57BE71B7F4DA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FDFE-A229-48E6-90CD-7598AE829545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FCCE-38D0-4CB1-84AE-92A62C822E7F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64D0CD7-4FA3-45CB-B70F-EA07A191669C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4A09-1599-4196-9A51-AAA25C326068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691CC3B7-7831-48B7-B16A-CE5D505072FA}" type="datetime1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1"/>
                </a:solidFill>
              </a:defRPr>
            </a:lvl1pPr>
          </a:lstStyle>
          <a:p>
            <a:fld id="{76F79B87-CAF0-4157-B382-432074DEE2A5}" type="datetime1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 descr="C:\Users\vipin.tyagi\Desktop\footer-img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229600" y="228600"/>
            <a:ext cx="743185" cy="88526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6800"/>
            <a:ext cx="8382000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Object Detection Using YOLO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Jaypee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 of Engineering &amp; Technology,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Guna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1210852"/>
            <a:ext cx="5257800" cy="2125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Garv Gang (231b113)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Sourav Kumar (231B349)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Tryambkesh Sharma (231B366)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0" y="3122373"/>
            <a:ext cx="4572000" cy="966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 Animesh Kumar Dubey </a:t>
            </a:r>
          </a:p>
        </p:txBody>
      </p:sp>
      <p:pic>
        <p:nvPicPr>
          <p:cNvPr id="1026" name="Picture 2" descr="C:\Users\vipin.tyagi\Desktop\footer-im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4343400"/>
            <a:ext cx="1041400" cy="12404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58AB-2AE5-5A55-81BB-40C96C3C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1301C-75D5-96B9-FE78-B49CAD72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B7FC6-4D9F-39CE-4716-638F67C56E6F}"/>
              </a:ext>
            </a:extLst>
          </p:cNvPr>
          <p:cNvSpPr txBox="1"/>
          <p:nvPr/>
        </p:nvSpPr>
        <p:spPr>
          <a:xfrm>
            <a:off x="2209800" y="346957"/>
            <a:ext cx="4572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Objective</a:t>
            </a:r>
            <a:endParaRPr kumimoji="0" lang="en-I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B41D1E-54F7-5D2B-2D21-FDBCDD6E6015}"/>
              </a:ext>
            </a:extLst>
          </p:cNvPr>
          <p:cNvSpPr txBox="1"/>
          <p:nvPr/>
        </p:nvSpPr>
        <p:spPr>
          <a:xfrm>
            <a:off x="38100" y="1600200"/>
            <a:ext cx="90678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develop an intelligent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 detection using YOLO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performing the following tasks: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DD1B6A-4237-7D1B-9DED-D103620484BC}"/>
              </a:ext>
            </a:extLst>
          </p:cNvPr>
          <p:cNvSpPr txBox="1"/>
          <p:nvPr/>
        </p:nvSpPr>
        <p:spPr>
          <a:xfrm>
            <a:off x="38100" y="2557274"/>
            <a:ext cx="9029700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Object Detection 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multiple objects in images and live video streams accurately.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Object Counting 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total number of detected objects in each frame.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Object Localization 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exact position of objects using bounding boxes and coordinates.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Motion Analysis 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object movement across consecutive frames in a video.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Object Identity Tracking 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individual objects over time and assign unique IDs to maintain identity.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72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A74E3-C55D-CB13-EA66-A70CE4AFE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C4BAF-2933-5D9D-A856-29A1FA2D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A2C2FC-11D7-A339-324F-9F7AC4803932}"/>
              </a:ext>
            </a:extLst>
          </p:cNvPr>
          <p:cNvSpPr txBox="1"/>
          <p:nvPr/>
        </p:nvSpPr>
        <p:spPr>
          <a:xfrm>
            <a:off x="2209800" y="228600"/>
            <a:ext cx="4572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Problem Statement</a:t>
            </a:r>
            <a:endParaRPr kumimoji="0" lang="en-I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BE96AA-0014-2F3D-668B-9209DCC91FDB}"/>
              </a:ext>
            </a:extLst>
          </p:cNvPr>
          <p:cNvSpPr txBox="1"/>
          <p:nvPr/>
        </p:nvSpPr>
        <p:spPr>
          <a:xfrm>
            <a:off x="76200" y="1752600"/>
            <a:ext cx="9067800" cy="492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accurately detecting multiple objects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real-time environments.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 consistently track objects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video frames.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efficient integration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detection, counting, and tracking in a single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 in analyzing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motion such as direction and movement patterns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for a fast,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 and robust solution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works effectively on live video streams. </a:t>
            </a:r>
          </a:p>
        </p:txBody>
      </p:sp>
    </p:spTree>
    <p:extLst>
      <p:ext uri="{BB962C8B-B14F-4D97-AF65-F5344CB8AC3E}">
        <p14:creationId xmlns:p14="http://schemas.microsoft.com/office/powerpoint/2010/main" val="361882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104" y="680246"/>
            <a:ext cx="8153400" cy="481231"/>
          </a:xfrm>
        </p:spPr>
        <p:txBody>
          <a:bodyPr>
            <a:normAutofit fontScale="90000"/>
          </a:bodyPr>
          <a:lstStyle/>
          <a:p>
            <a:r>
              <a:rPr lang="en-US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Real-Time Object Detection?</a:t>
            </a:r>
            <a:b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91F48-673C-7FAE-5D24-1F873B9497AA}"/>
              </a:ext>
            </a:extLst>
          </p:cNvPr>
          <p:cNvSpPr txBox="1"/>
          <p:nvPr/>
        </p:nvSpPr>
        <p:spPr>
          <a:xfrm>
            <a:off x="9525" y="1538367"/>
            <a:ext cx="905827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Detection is a computer vision technique that identifies, classifies, and locates objects in images or video streams instantly as the data is captured. It not only detects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object is, but also determines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by drawing bounding boxes around it — all within milliseconds.</a:t>
            </a:r>
          </a:p>
          <a:p>
            <a:endParaRPr lang="en-IN" dirty="0">
              <a:latin typeface="Sylfaen" panose="010A050205030603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5636FE-9CF8-349E-2BD9-BAC64B8CD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0" y="3433267"/>
            <a:ext cx="4398166" cy="33618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959531-339B-E65F-3727-803BB4E0DB4A}"/>
              </a:ext>
            </a:extLst>
          </p:cNvPr>
          <p:cNvSpPr txBox="1"/>
          <p:nvPr/>
        </p:nvSpPr>
        <p:spPr>
          <a:xfrm>
            <a:off x="4876800" y="3575972"/>
            <a:ext cx="2814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B03757-2CAD-0A55-C3B4-8BADECB0F8FD}"/>
              </a:ext>
            </a:extLst>
          </p:cNvPr>
          <p:cNvSpPr txBox="1"/>
          <p:nvPr/>
        </p:nvSpPr>
        <p:spPr>
          <a:xfrm>
            <a:off x="4876800" y="4131248"/>
            <a:ext cx="4550567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multiple objects all at once.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on live video or webcam feed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bounding box + class label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with very low delay (high FPS)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instant decision-making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E2B0FE-406F-95B0-65B7-DDB51F8F054C}"/>
              </a:ext>
            </a:extLst>
          </p:cNvPr>
          <p:cNvSpPr/>
          <p:nvPr/>
        </p:nvSpPr>
        <p:spPr>
          <a:xfrm>
            <a:off x="-1057274" y="7956514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69" y="588666"/>
            <a:ext cx="8025689" cy="838394"/>
          </a:xfrm>
        </p:spPr>
        <p:txBody>
          <a:bodyPr>
            <a:normAutofit fontScale="90000"/>
          </a:bodyPr>
          <a:lstStyle/>
          <a:p>
            <a:r>
              <a:rPr lang="en-US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Object Detection Techniques</a:t>
            </a:r>
            <a:b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826F3-0535-8D56-2189-C869C539054C}"/>
              </a:ext>
            </a:extLst>
          </p:cNvPr>
          <p:cNvSpPr txBox="1"/>
          <p:nvPr/>
        </p:nvSpPr>
        <p:spPr>
          <a:xfrm>
            <a:off x="127711" y="1681094"/>
            <a:ext cx="4600576" cy="2166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Sliding Window Approach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Scans the image using fixed-size windows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each region separately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slow and computationally expensive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for large images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CA4A75-78D2-D0E9-2C76-153E9B66889B}"/>
              </a:ext>
            </a:extLst>
          </p:cNvPr>
          <p:cNvSpPr txBox="1"/>
          <p:nvPr/>
        </p:nvSpPr>
        <p:spPr>
          <a:xfrm>
            <a:off x="4916240" y="1681094"/>
            <a:ext cx="4153700" cy="3153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R-CNN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region proposals instead of scanning image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CNN for feature extraction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significantly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slow due to multi-stage pipeline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DCCC6-2EBC-8CBC-1312-839B6B0CD048}"/>
              </a:ext>
            </a:extLst>
          </p:cNvPr>
          <p:cNvSpPr txBox="1"/>
          <p:nvPr/>
        </p:nvSpPr>
        <p:spPr>
          <a:xfrm>
            <a:off x="127711" y="4507468"/>
            <a:ext cx="3759362" cy="1750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Fast R-CNN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repeated CNN computations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ROI Pooling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R-CNN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392A3-A4B3-F431-729D-D98833CF64B1}"/>
              </a:ext>
            </a:extLst>
          </p:cNvPr>
          <p:cNvSpPr txBox="1"/>
          <p:nvPr/>
        </p:nvSpPr>
        <p:spPr>
          <a:xfrm>
            <a:off x="4916240" y="4507468"/>
            <a:ext cx="3451586" cy="2622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YOLO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Single-stage detector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entire image in one pass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performance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optimized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F0D4D-802F-B17A-1362-5EA2DB0E9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B5BEA-F185-F0C7-53BA-CA21752E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68542E3-9BBE-49D8-51BD-98E62D0D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02" y="186506"/>
            <a:ext cx="7464552" cy="914400"/>
          </a:xfrm>
        </p:spPr>
        <p:txBody>
          <a:bodyPr>
            <a:normAutofit/>
          </a:bodyPr>
          <a:lstStyle/>
          <a:p>
            <a:pPr algn="ctr"/>
            <a:r>
              <a:rPr lang="en-US" sz="450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 is YOLO?</a:t>
            </a:r>
            <a:endParaRPr lang="en-IN" sz="4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6C04E-1D09-7E3B-BEF8-D5A514D9E1F0}"/>
              </a:ext>
            </a:extLst>
          </p:cNvPr>
          <p:cNvSpPr txBox="1"/>
          <p:nvPr/>
        </p:nvSpPr>
        <p:spPr>
          <a:xfrm>
            <a:off x="1" y="1483771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(You Only Look Once)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deep learning-based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detection algorithm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detects and classifies objects in a single forward pass of a neural network. So let’s see how it does it ?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4BDD3F-E7D5-837E-54E9-A37D81028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373" y="3619095"/>
            <a:ext cx="2035653" cy="19187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D659E5-1E36-881E-FA75-171D54EDD4F1}"/>
              </a:ext>
            </a:extLst>
          </p:cNvPr>
          <p:cNvSpPr txBox="1"/>
          <p:nvPr/>
        </p:nvSpPr>
        <p:spPr>
          <a:xfrm>
            <a:off x="6535532" y="3094333"/>
            <a:ext cx="271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this a dog or a person 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30727A-B3A8-1ED8-38D6-35F47D87B3F7}"/>
              </a:ext>
            </a:extLst>
          </p:cNvPr>
          <p:cNvSpPr txBox="1"/>
          <p:nvPr/>
        </p:nvSpPr>
        <p:spPr>
          <a:xfrm>
            <a:off x="6535532" y="5548049"/>
            <a:ext cx="114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Output: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54B1D8-1E84-E122-D6E1-DA4198B829F7}"/>
              </a:ext>
            </a:extLst>
          </p:cNvPr>
          <p:cNvSpPr txBox="1"/>
          <p:nvPr/>
        </p:nvSpPr>
        <p:spPr>
          <a:xfrm>
            <a:off x="8077200" y="5734307"/>
            <a:ext cx="141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Dog=1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Person=0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20FBA-D1F5-316D-2B2C-CECB1D56F706}"/>
              </a:ext>
            </a:extLst>
          </p:cNvPr>
          <p:cNvSpPr txBox="1"/>
          <p:nvPr/>
        </p:nvSpPr>
        <p:spPr>
          <a:xfrm>
            <a:off x="-19050" y="2830525"/>
            <a:ext cx="6101254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work ?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Image Classification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36907-A44D-3242-A9CE-63C0EB41832A}"/>
              </a:ext>
            </a:extLst>
          </p:cNvPr>
          <p:cNvSpPr txBox="1"/>
          <p:nvPr/>
        </p:nvSpPr>
        <p:spPr>
          <a:xfrm>
            <a:off x="0" y="3786978"/>
            <a:ext cx="70866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 is performed using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image is passed through multiple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extracts spatial features (edges, textures, patterns)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maps are generated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Flattening + Fully Connected layers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outputs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probabilities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probability class is selected</a:t>
            </a:r>
          </a:p>
        </p:txBody>
      </p:sp>
    </p:spTree>
    <p:extLst>
      <p:ext uri="{BB962C8B-B14F-4D97-AF65-F5344CB8AC3E}">
        <p14:creationId xmlns:p14="http://schemas.microsoft.com/office/powerpoint/2010/main" val="3320100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476B-1463-2019-F002-64F679E79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47216-E7A6-0E11-EE5D-60A77E94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086A7-84C9-5532-98F9-796A4700B59F}"/>
              </a:ext>
            </a:extLst>
          </p:cNvPr>
          <p:cNvSpPr txBox="1"/>
          <p:nvPr/>
        </p:nvSpPr>
        <p:spPr>
          <a:xfrm>
            <a:off x="252998" y="0"/>
            <a:ext cx="678412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2:Object Localization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localization extends classification by predicting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coordinates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C1A53-1EEE-5429-2A92-50646568ACC1}"/>
              </a:ext>
            </a:extLst>
          </p:cNvPr>
          <p:cNvSpPr txBox="1"/>
          <p:nvPr/>
        </p:nvSpPr>
        <p:spPr>
          <a:xfrm>
            <a:off x="3843980" y="2250812"/>
            <a:ext cx="3140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is the dog in this image?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F646A2-AE8B-4B3F-DB6C-B6A7C1A7968E}"/>
              </a:ext>
            </a:extLst>
          </p:cNvPr>
          <p:cNvSpPr txBox="1"/>
          <p:nvPr/>
        </p:nvSpPr>
        <p:spPr>
          <a:xfrm>
            <a:off x="3843980" y="5563741"/>
            <a:ext cx="1253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: Output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48A6D-9B89-9968-2919-F9284A1435B0}"/>
              </a:ext>
            </a:extLst>
          </p:cNvPr>
          <p:cNvSpPr txBox="1"/>
          <p:nvPr/>
        </p:nvSpPr>
        <p:spPr>
          <a:xfrm>
            <a:off x="5004550" y="5702240"/>
            <a:ext cx="1174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Dog=1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Person=0  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5A6D5-89CB-5446-22DA-2778D121A4F6}"/>
              </a:ext>
            </a:extLst>
          </p:cNvPr>
          <p:cNvSpPr txBox="1"/>
          <p:nvPr/>
        </p:nvSpPr>
        <p:spPr>
          <a:xfrm>
            <a:off x="6477428" y="5702239"/>
            <a:ext cx="1174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AA7AD9-E92F-34AB-61CD-DC28CE55FD8B}"/>
              </a:ext>
            </a:extLst>
          </p:cNvPr>
          <p:cNvSpPr txBox="1"/>
          <p:nvPr/>
        </p:nvSpPr>
        <p:spPr>
          <a:xfrm>
            <a:off x="6085763" y="5739596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  <a:endParaRPr lang="en-IN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48BAD3-EB99-406B-0186-4ADD9A8A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22354"/>
            <a:ext cx="2752002" cy="27402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8B0EDF-E5A1-3730-BC06-94CB3524D962}"/>
                  </a:ext>
                </a:extLst>
              </p:cNvPr>
              <p:cNvSpPr txBox="1"/>
              <p:nvPr/>
            </p:nvSpPr>
            <p:spPr>
              <a:xfrm>
                <a:off x="131346" y="1771803"/>
                <a:ext cx="3791776" cy="4613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Along with class prediction, the network predicts: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Pc​ → Object Presence Probability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Bx​,By​ → Bounding Box Center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Bw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→ Bounding Box Dimensions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C1​,C2​ → Class Probabilities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Vector:  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Pc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Bx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By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Bw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Bh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1​,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IN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2​]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label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Bounding box coordinates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8B0EDF-E5A1-3730-BC06-94CB3524D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46" y="1771803"/>
                <a:ext cx="3791776" cy="4613058"/>
              </a:xfrm>
              <a:prstGeom prst="rect">
                <a:avLst/>
              </a:prstGeom>
              <a:blipFill>
                <a:blip r:embed="rId3"/>
                <a:stretch>
                  <a:fillRect l="-1447" r="-1286" b="-13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550E2B-4639-4C6E-5514-8945BA742977}"/>
              </a:ext>
            </a:extLst>
          </p:cNvPr>
          <p:cNvCxnSpPr/>
          <p:nvPr/>
        </p:nvCxnSpPr>
        <p:spPr>
          <a:xfrm>
            <a:off x="6984455" y="4223781"/>
            <a:ext cx="756768" cy="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5538756-BBE8-D522-D928-3A6E99F81EE0}"/>
              </a:ext>
            </a:extLst>
          </p:cNvPr>
          <p:cNvSpPr txBox="1"/>
          <p:nvPr/>
        </p:nvSpPr>
        <p:spPr>
          <a:xfrm>
            <a:off x="6895281" y="360719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399AF8-825C-4A47-C99A-C5AAF16BA2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567" y="2707967"/>
            <a:ext cx="1267065" cy="303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5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4DB6-6FC3-F571-5DD1-ADD805E7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00BD3-0062-912D-74E5-054FFB2E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2ECC6C-FD2B-A722-BBA9-49714AD1E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869858"/>
            <a:ext cx="6276975" cy="449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34FCFD-3588-FF6C-D8AB-666176E55225}"/>
              </a:ext>
            </a:extLst>
          </p:cNvPr>
          <p:cNvSpPr txBox="1"/>
          <p:nvPr/>
        </p:nvSpPr>
        <p:spPr>
          <a:xfrm>
            <a:off x="6477000" y="1752600"/>
            <a:ext cx="266700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predicts: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probabilities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forward pass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network.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That’s why it performs classification + localization simultaneously.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15D480-7030-A74B-427C-AA2584252D10}"/>
              </a:ext>
            </a:extLst>
          </p:cNvPr>
          <p:cNvSpPr txBox="1"/>
          <p:nvPr/>
        </p:nvSpPr>
        <p:spPr>
          <a:xfrm>
            <a:off x="226567" y="340127"/>
            <a:ext cx="8001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How does YOLO combine them ?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16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3CD49-D654-8106-CA38-37851FAC2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7B408-9013-2DA1-78A7-E897F318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B76E9-F35B-8ABA-1AFE-2898307EA93B}"/>
              </a:ext>
            </a:extLst>
          </p:cNvPr>
          <p:cNvSpPr txBox="1"/>
          <p:nvPr/>
        </p:nvSpPr>
        <p:spPr>
          <a:xfrm>
            <a:off x="9525" y="1545273"/>
            <a:ext cx="9058275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 is an advanced version of artificial neural networks (ANNs), primarily designed to extract features from grid-like matrix datasets.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FC92E-23FE-2598-6704-BACA88075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6" y="3276600"/>
            <a:ext cx="9011354" cy="31923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7DE336-E0C8-F98B-B4C4-35527547D163}"/>
              </a:ext>
            </a:extLst>
          </p:cNvPr>
          <p:cNvSpPr txBox="1"/>
          <p:nvPr/>
        </p:nvSpPr>
        <p:spPr>
          <a:xfrm>
            <a:off x="533400" y="-39583"/>
            <a:ext cx="6553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CNN (Convolutional Neural Network)?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721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0E9D-D94C-A7FC-5C89-8B0E747CA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3BE72-04BF-89D2-6632-6B1064B7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BDA47-2E74-A3BD-AC9D-DECDC17A5EE7}"/>
              </a:ext>
            </a:extLst>
          </p:cNvPr>
          <p:cNvSpPr txBox="1"/>
          <p:nvPr/>
        </p:nvSpPr>
        <p:spPr>
          <a:xfrm>
            <a:off x="2209800" y="228600"/>
            <a:ext cx="4572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500" dirty="0">
                <a:ln w="0"/>
                <a:solidFill>
                  <a:prstClr val="black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  <a:endParaRPr kumimoji="0" lang="en-I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5BDFE6-8E0A-260A-BDE3-7EBF3B922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13486"/>
              </p:ext>
            </p:extLst>
          </p:nvPr>
        </p:nvGraphicFramePr>
        <p:xfrm>
          <a:off x="304800" y="1897221"/>
          <a:ext cx="8461374" cy="2560320"/>
        </p:xfrm>
        <a:graphic>
          <a:graphicData uri="http://schemas.openxmlformats.org/drawingml/2006/table">
            <a:tbl>
              <a:tblPr/>
              <a:tblGrid>
                <a:gridCol w="2820458">
                  <a:extLst>
                    <a:ext uri="{9D8B030D-6E8A-4147-A177-3AD203B41FA5}">
                      <a16:colId xmlns:a16="http://schemas.microsoft.com/office/drawing/2014/main" val="2729109020"/>
                    </a:ext>
                  </a:extLst>
                </a:gridCol>
                <a:gridCol w="2820458">
                  <a:extLst>
                    <a:ext uri="{9D8B030D-6E8A-4147-A177-3AD203B41FA5}">
                      <a16:colId xmlns:a16="http://schemas.microsoft.com/office/drawing/2014/main" val="406349477"/>
                    </a:ext>
                  </a:extLst>
                </a:gridCol>
                <a:gridCol w="2820458">
                  <a:extLst>
                    <a:ext uri="{9D8B030D-6E8A-4147-A177-3AD203B41FA5}">
                      <a16:colId xmlns:a16="http://schemas.microsoft.com/office/drawing/2014/main" val="25156780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065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070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040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96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50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499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07204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FD0697-0125-2441-D4C8-862C58BB9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261185"/>
              </p:ext>
            </p:extLst>
          </p:nvPr>
        </p:nvGraphicFramePr>
        <p:xfrm>
          <a:off x="0" y="1559977"/>
          <a:ext cx="9144000" cy="522888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29970309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45283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95118871"/>
                    </a:ext>
                  </a:extLst>
                </a:gridCol>
              </a:tblGrid>
              <a:tr h="278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4175511855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on real-time object detection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1488128216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algorithm and dataset study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2111973080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YOLO implementation on video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521875154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tracking and counting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2576054723"/>
                  </a:ext>
                </a:extLst>
              </a:tr>
              <a:tr h="278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architecture study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566889731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 and dataset analysis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Progress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540273472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7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Application-specific metric study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Progress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3142025691"/>
                  </a:ext>
                </a:extLst>
              </a:tr>
              <a:tr h="278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8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paper review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4255937850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9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and implementation refinement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403273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044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828D0-99B4-3A6B-9777-343CDFB86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7278D-F8B9-EDCC-37F2-7A078FBE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CEFDA-CE94-66F7-05E7-7839818A6D1E}"/>
              </a:ext>
            </a:extLst>
          </p:cNvPr>
          <p:cNvSpPr txBox="1"/>
          <p:nvPr/>
        </p:nvSpPr>
        <p:spPr>
          <a:xfrm>
            <a:off x="2209800" y="228600"/>
            <a:ext cx="4572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500" dirty="0">
                <a:ln w="0"/>
                <a:solidFill>
                  <a:prstClr val="black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 Done So Far</a:t>
            </a:r>
            <a:endParaRPr kumimoji="0" lang="en-I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33BF1-FB3A-6298-AC10-5647387E90FB}"/>
              </a:ext>
            </a:extLst>
          </p:cNvPr>
          <p:cNvSpPr txBox="1"/>
          <p:nvPr/>
        </p:nvSpPr>
        <p:spPr>
          <a:xfrm>
            <a:off x="0" y="1518410"/>
            <a:ext cx="9144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Dataset Details</a:t>
            </a: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traffic/object detection datasets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sources: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BDD100K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road and traffic scenes </a:t>
            </a: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according to what you are actually using. Example: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images: 5,000 to 10,000 images 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are using only pretrained YOLO on videos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pretrained YOLO model with publicly available benchmark datasets and real-time traffic video samples for testing.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Type of Data Used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data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Annotated object detection labels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such as: ( person, car, bus, truck, motorcycle, bicycle)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Result Analysis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  Recall,  mAP@0.5,  mAP@0.5:0.95, FPS 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613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2F118-159C-5A24-09ED-1D64C620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2ADE2-4868-96EC-C143-25D7D730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3EBF1-CAAC-2B5B-BE95-7050660A55A1}"/>
              </a:ext>
            </a:extLst>
          </p:cNvPr>
          <p:cNvSpPr txBox="1"/>
          <p:nvPr/>
        </p:nvSpPr>
        <p:spPr>
          <a:xfrm>
            <a:off x="457200" y="381000"/>
            <a:ext cx="7848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APPLICATIONS OF YOLO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D4923B-4979-2FE0-4707-3015B2836767}"/>
              </a:ext>
            </a:extLst>
          </p:cNvPr>
          <p:cNvSpPr txBox="1"/>
          <p:nvPr/>
        </p:nvSpPr>
        <p:spPr>
          <a:xfrm>
            <a:off x="266700" y="1671459"/>
            <a:ext cx="4341253" cy="4716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🚗 1. Autonomous Vehicles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pedestrians, vehicles, traffic signs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decision making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road safety</a:t>
            </a:r>
          </a:p>
          <a:p>
            <a:pPr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📹 2. Surveillance &amp; Security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monitoring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activity tracking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2F454-A63C-FA70-46CB-730BC6163722}"/>
              </a:ext>
            </a:extLst>
          </p:cNvPr>
          <p:cNvSpPr txBox="1"/>
          <p:nvPr/>
        </p:nvSpPr>
        <p:spPr>
          <a:xfrm>
            <a:off x="4724400" y="1676400"/>
            <a:ext cx="4341253" cy="4716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🚦 3. Traffic Monitoring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counting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estimation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analysis</a:t>
            </a:r>
          </a:p>
          <a:p>
            <a:pPr>
              <a:lnSpc>
                <a:spcPct val="150000"/>
              </a:lnSpc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🛍 4. Retail &amp; Inventory Management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detection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behaviour analysis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billing systems</a:t>
            </a:r>
          </a:p>
        </p:txBody>
      </p:sp>
    </p:spTree>
    <p:extLst>
      <p:ext uri="{BB962C8B-B14F-4D97-AF65-F5344CB8AC3E}">
        <p14:creationId xmlns:p14="http://schemas.microsoft.com/office/powerpoint/2010/main" val="2353167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914400" y="1617663"/>
            <a:ext cx="7123113" cy="1673225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Thank You</a:t>
            </a:r>
          </a:p>
        </p:txBody>
      </p:sp>
      <p:pic>
        <p:nvPicPr>
          <p:cNvPr id="3074" name="Picture 2" descr="C:\Users\vipin.tyagi\Desktop\footer-im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28575"/>
            <a:ext cx="1215437" cy="1447800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394</TotalTime>
  <Words>969</Words>
  <Application>Microsoft Office PowerPoint</Application>
  <PresentationFormat>On-screen Show (4:3)</PresentationFormat>
  <Paragraphs>174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Sylfaen</vt:lpstr>
      <vt:lpstr>Times New Roman</vt:lpstr>
      <vt:lpstr>Tw Cen MT</vt:lpstr>
      <vt:lpstr>Wingdings</vt:lpstr>
      <vt:lpstr>Wingdings 2</vt:lpstr>
      <vt:lpstr>Median</vt:lpstr>
      <vt:lpstr>Real Time Object Detection Using YOLO </vt:lpstr>
      <vt:lpstr>PowerPoint Presentation</vt:lpstr>
      <vt:lpstr>PowerPoint Presentation</vt:lpstr>
      <vt:lpstr>What is Real-Time Object Detection? </vt:lpstr>
      <vt:lpstr>Evolution of Object Detection Techniques </vt:lpstr>
      <vt:lpstr>What  is YOLO?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vipin tyagi</dc:creator>
  <cp:lastModifiedBy>sourav kumar</cp:lastModifiedBy>
  <cp:revision>15</cp:revision>
  <dcterms:created xsi:type="dcterms:W3CDTF">2006-08-16T00:00:00Z</dcterms:created>
  <dcterms:modified xsi:type="dcterms:W3CDTF">2026-04-09T07:57:25Z</dcterms:modified>
</cp:coreProperties>
</file>